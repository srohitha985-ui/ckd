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79" r:id="rId2"/>
    <p:sldId id="287" r:id="rId3"/>
    <p:sldId id="262" r:id="rId4"/>
    <p:sldId id="261" r:id="rId5"/>
    <p:sldId id="263" r:id="rId6"/>
    <p:sldId id="264" r:id="rId7"/>
    <p:sldId id="265" r:id="rId8"/>
    <p:sldId id="271" r:id="rId9"/>
    <p:sldId id="272" r:id="rId10"/>
    <p:sldId id="276" r:id="rId11"/>
    <p:sldId id="273" r:id="rId12"/>
    <p:sldId id="294" r:id="rId13"/>
    <p:sldId id="295" r:id="rId14"/>
    <p:sldId id="296" r:id="rId15"/>
    <p:sldId id="297" r:id="rId16"/>
    <p:sldId id="298" r:id="rId17"/>
    <p:sldId id="299" r:id="rId18"/>
    <p:sldId id="300" r:id="rId19"/>
    <p:sldId id="301" r:id="rId20"/>
    <p:sldId id="302" r:id="rId21"/>
    <p:sldId id="303" r:id="rId22"/>
    <p:sldId id="274" r:id="rId23"/>
    <p:sldId id="275" r:id="rId24"/>
    <p:sldId id="288" r:id="rId25"/>
    <p:sldId id="289" r:id="rId26"/>
    <p:sldId id="293" r:id="rId27"/>
    <p:sldId id="290" r:id="rId28"/>
    <p:sldId id="291" r:id="rId29"/>
    <p:sldId id="292" r:id="rId30"/>
    <p:sldId id="267" r:id="rId31"/>
    <p:sldId id="268" r:id="rId32"/>
    <p:sldId id="269"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88" d="100"/>
          <a:sy n="88" d="100"/>
        </p:scale>
        <p:origin x="576"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pPr/>
              <a:t>25/04/2026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pPr/>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2730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12566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AA61B0F3-96B9-62B2-E1C5-4D3D4823B899}"/>
              </a:ext>
            </a:extLst>
          </p:cNvPr>
          <p:cNvSpPr>
            <a:spLocks noGrp="1"/>
          </p:cNvSpPr>
          <p:nvPr>
            <p:ph type="dt" sz="half" idx="10"/>
          </p:nvPr>
        </p:nvSpPr>
        <p:spPr/>
        <p:txBody>
          <a:bodyPr/>
          <a:lstStyle/>
          <a:p>
            <a:fld id="{1F66083A-C1B7-4B46-82C5-289BB6E6D5A4}" type="datetime1">
              <a:rPr lang="en-IN" smtClean="0"/>
              <a:pPr/>
              <a:t>25-04-2026</a:t>
            </a:fld>
            <a:endParaRPr lang="en-IN" dirty="0"/>
          </a:p>
        </p:txBody>
      </p:sp>
      <p:sp>
        <p:nvSpPr>
          <p:cNvPr id="5" name="Footer Placeholder 4">
            <a:extLst>
              <a:ext uri="{FF2B5EF4-FFF2-40B4-BE49-F238E27FC236}">
                <a16:creationId xmlns:a16="http://schemas.microsoft.com/office/drawing/2014/main" xmlns=""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A11EEA5E-DC19-ABCD-6267-C545BA777197}"/>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xmlns=""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xmlns=""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25-04-2026</a:t>
            </a:fld>
            <a:endParaRPr lang="en-IN" dirty="0"/>
          </a:p>
        </p:txBody>
      </p:sp>
      <p:sp>
        <p:nvSpPr>
          <p:cNvPr id="5" name="Footer Placeholder 4">
            <a:extLst>
              <a:ext uri="{FF2B5EF4-FFF2-40B4-BE49-F238E27FC236}">
                <a16:creationId xmlns:a16="http://schemas.microsoft.com/office/drawing/2014/main" xmlns=""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7ADDF86-F686-ACE8-6852-5CEADD9A2870}"/>
              </a:ext>
            </a:extLst>
          </p:cNvPr>
          <p:cNvSpPr>
            <a:spLocks noGrp="1"/>
          </p:cNvSpPr>
          <p:nvPr>
            <p:ph type="dt" sz="half" idx="10"/>
          </p:nvPr>
        </p:nvSpPr>
        <p:spPr/>
        <p:txBody>
          <a:bodyPr/>
          <a:lstStyle/>
          <a:p>
            <a:fld id="{2B3E8F52-857A-4C89-954C-57943DB51290}" type="datetime1">
              <a:rPr lang="en-IN" smtClean="0"/>
              <a:pPr/>
              <a:t>25-04-2026</a:t>
            </a:fld>
            <a:endParaRPr lang="en-IN" dirty="0"/>
          </a:p>
        </p:txBody>
      </p:sp>
      <p:sp>
        <p:nvSpPr>
          <p:cNvPr id="5" name="Footer Placeholder 4">
            <a:extLst>
              <a:ext uri="{FF2B5EF4-FFF2-40B4-BE49-F238E27FC236}">
                <a16:creationId xmlns:a16="http://schemas.microsoft.com/office/drawing/2014/main" xmlns=""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FD45F0D7-F550-D351-1F6B-36B665CA0CDC}"/>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BA80B84D-A3CA-9B7E-B7BB-4C18C18121B2}"/>
              </a:ext>
            </a:extLst>
          </p:cNvPr>
          <p:cNvSpPr>
            <a:spLocks noGrp="1"/>
          </p:cNvSpPr>
          <p:nvPr>
            <p:ph type="dt" sz="half" idx="10"/>
          </p:nvPr>
        </p:nvSpPr>
        <p:spPr/>
        <p:txBody>
          <a:bodyPr/>
          <a:lstStyle/>
          <a:p>
            <a:fld id="{2BBD7B4D-DDD6-4CA2-87A0-9BDD5E5268EC}" type="datetime1">
              <a:rPr lang="en-IN" smtClean="0"/>
              <a:pPr/>
              <a:t>25-04-2026</a:t>
            </a:fld>
            <a:endParaRPr lang="en-IN" dirty="0"/>
          </a:p>
        </p:txBody>
      </p:sp>
      <p:sp>
        <p:nvSpPr>
          <p:cNvPr id="6" name="Footer Placeholder 5">
            <a:extLst>
              <a:ext uri="{FF2B5EF4-FFF2-40B4-BE49-F238E27FC236}">
                <a16:creationId xmlns:a16="http://schemas.microsoft.com/office/drawing/2014/main" xmlns=""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F4B7665D-74F3-FC85-8C37-77F440223274}"/>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80AA233-A9EB-E98D-4DDF-BC4B72808326}"/>
              </a:ext>
            </a:extLst>
          </p:cNvPr>
          <p:cNvSpPr>
            <a:spLocks noGrp="1"/>
          </p:cNvSpPr>
          <p:nvPr>
            <p:ph type="dt" sz="half" idx="10"/>
          </p:nvPr>
        </p:nvSpPr>
        <p:spPr/>
        <p:txBody>
          <a:bodyPr/>
          <a:lstStyle/>
          <a:p>
            <a:fld id="{C130D9E5-0635-43A8-8973-488E7408FAF7}" type="datetime1">
              <a:rPr lang="en-IN" smtClean="0"/>
              <a:pPr/>
              <a:t>25-04-2026</a:t>
            </a:fld>
            <a:endParaRPr lang="en-IN" dirty="0"/>
          </a:p>
        </p:txBody>
      </p:sp>
      <p:sp>
        <p:nvSpPr>
          <p:cNvPr id="8" name="Footer Placeholder 7">
            <a:extLst>
              <a:ext uri="{FF2B5EF4-FFF2-40B4-BE49-F238E27FC236}">
                <a16:creationId xmlns:a16="http://schemas.microsoft.com/office/drawing/2014/main" xmlns=""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xmlns="" id="{56B9FECA-EE46-D87A-F259-E8022C3628B1}"/>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9A2620A1-C0CA-1D0E-E85E-5C1326F8CB80}"/>
              </a:ext>
            </a:extLst>
          </p:cNvPr>
          <p:cNvSpPr>
            <a:spLocks noGrp="1"/>
          </p:cNvSpPr>
          <p:nvPr>
            <p:ph type="dt" sz="half" idx="10"/>
          </p:nvPr>
        </p:nvSpPr>
        <p:spPr/>
        <p:txBody>
          <a:bodyPr/>
          <a:lstStyle/>
          <a:p>
            <a:fld id="{E1D0CEA8-D591-4CC9-939A-A3BE6FD93E89}" type="datetime1">
              <a:rPr lang="en-IN" smtClean="0"/>
              <a:pPr/>
              <a:t>25-04-2026</a:t>
            </a:fld>
            <a:endParaRPr lang="en-IN" dirty="0"/>
          </a:p>
        </p:txBody>
      </p:sp>
      <p:sp>
        <p:nvSpPr>
          <p:cNvPr id="4" name="Footer Placeholder 3">
            <a:extLst>
              <a:ext uri="{FF2B5EF4-FFF2-40B4-BE49-F238E27FC236}">
                <a16:creationId xmlns:a16="http://schemas.microsoft.com/office/drawing/2014/main" xmlns=""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xmlns="" id="{46E4555F-1DC7-94CF-74D7-21521EE9398A}"/>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B497F04-5F5B-E4F7-0A48-A1FBAC01C3C4}"/>
              </a:ext>
            </a:extLst>
          </p:cNvPr>
          <p:cNvSpPr>
            <a:spLocks noGrp="1"/>
          </p:cNvSpPr>
          <p:nvPr>
            <p:ph type="dt" sz="half" idx="10"/>
          </p:nvPr>
        </p:nvSpPr>
        <p:spPr/>
        <p:txBody>
          <a:bodyPr/>
          <a:lstStyle/>
          <a:p>
            <a:fld id="{D2BE2297-DC8B-48E6-B6D6-34773F9A5984}" type="datetime1">
              <a:rPr lang="en-IN" smtClean="0"/>
              <a:pPr/>
              <a:t>25-04-2026</a:t>
            </a:fld>
            <a:endParaRPr lang="en-IN" dirty="0"/>
          </a:p>
        </p:txBody>
      </p:sp>
      <p:sp>
        <p:nvSpPr>
          <p:cNvPr id="3" name="Footer Placeholder 2">
            <a:extLst>
              <a:ext uri="{FF2B5EF4-FFF2-40B4-BE49-F238E27FC236}">
                <a16:creationId xmlns:a16="http://schemas.microsoft.com/office/drawing/2014/main" xmlns=""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xmlns="" id="{2817982A-25A2-0FA2-0BC4-48C8775F8459}"/>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D65CB0D-C5CF-96B6-5923-222D7E403E92}"/>
              </a:ext>
            </a:extLst>
          </p:cNvPr>
          <p:cNvSpPr>
            <a:spLocks noGrp="1"/>
          </p:cNvSpPr>
          <p:nvPr>
            <p:ph type="dt" sz="half" idx="10"/>
          </p:nvPr>
        </p:nvSpPr>
        <p:spPr/>
        <p:txBody>
          <a:bodyPr/>
          <a:lstStyle/>
          <a:p>
            <a:fld id="{64C2A547-6E4B-4188-9BD5-035CB9C4BCC5}" type="datetime1">
              <a:rPr lang="en-IN" smtClean="0"/>
              <a:pPr/>
              <a:t>25-04-2026</a:t>
            </a:fld>
            <a:endParaRPr lang="en-IN" dirty="0"/>
          </a:p>
        </p:txBody>
      </p:sp>
      <p:sp>
        <p:nvSpPr>
          <p:cNvPr id="6" name="Footer Placeholder 5">
            <a:extLst>
              <a:ext uri="{FF2B5EF4-FFF2-40B4-BE49-F238E27FC236}">
                <a16:creationId xmlns:a16="http://schemas.microsoft.com/office/drawing/2014/main" xmlns=""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2431A4E0-3F3F-3857-C2B7-EEDD3DF99CB1}"/>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xmlns=""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0002EBD-67C3-A4B8-A83C-896997C53EB8}"/>
              </a:ext>
            </a:extLst>
          </p:cNvPr>
          <p:cNvSpPr>
            <a:spLocks noGrp="1"/>
          </p:cNvSpPr>
          <p:nvPr>
            <p:ph type="dt" sz="half" idx="10"/>
          </p:nvPr>
        </p:nvSpPr>
        <p:spPr/>
        <p:txBody>
          <a:bodyPr/>
          <a:lstStyle/>
          <a:p>
            <a:fld id="{02706E29-16A1-4AAE-B55B-4E3DB7265605}" type="datetime1">
              <a:rPr lang="en-IN" smtClean="0"/>
              <a:pPr/>
              <a:t>25-04-2026</a:t>
            </a:fld>
            <a:endParaRPr lang="en-IN" dirty="0"/>
          </a:p>
        </p:txBody>
      </p:sp>
      <p:sp>
        <p:nvSpPr>
          <p:cNvPr id="6" name="Footer Placeholder 5">
            <a:extLst>
              <a:ext uri="{FF2B5EF4-FFF2-40B4-BE49-F238E27FC236}">
                <a16:creationId xmlns:a16="http://schemas.microsoft.com/office/drawing/2014/main" xmlns=""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304925F4-1AF9-E8B5-0534-4714B5FAF5DD}"/>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16D7DCF-1783-47F8-CDB8-8B7167ECD0D8}"/>
              </a:ext>
            </a:extLst>
          </p:cNvPr>
          <p:cNvSpPr>
            <a:spLocks noGrp="1"/>
          </p:cNvSpPr>
          <p:nvPr>
            <p:ph type="dt" sz="half" idx="10"/>
          </p:nvPr>
        </p:nvSpPr>
        <p:spPr/>
        <p:txBody>
          <a:bodyPr/>
          <a:lstStyle/>
          <a:p>
            <a:fld id="{3FC26915-BE00-456E-A9CA-DB9FE1FD674A}" type="datetime1">
              <a:rPr lang="en-IN" smtClean="0"/>
              <a:pPr/>
              <a:t>25-04-2026</a:t>
            </a:fld>
            <a:endParaRPr lang="en-IN" dirty="0"/>
          </a:p>
        </p:txBody>
      </p:sp>
      <p:sp>
        <p:nvSpPr>
          <p:cNvPr id="5" name="Footer Placeholder 4">
            <a:extLst>
              <a:ext uri="{FF2B5EF4-FFF2-40B4-BE49-F238E27FC236}">
                <a16:creationId xmlns:a16="http://schemas.microsoft.com/office/drawing/2014/main" xmlns=""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7255429C-96E8-1064-0F87-6D95D15F9384}"/>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1B93D65-8824-8EBE-4CB8-E4D7750FE881}"/>
              </a:ext>
            </a:extLst>
          </p:cNvPr>
          <p:cNvSpPr>
            <a:spLocks noGrp="1"/>
          </p:cNvSpPr>
          <p:nvPr>
            <p:ph type="dt" sz="half" idx="10"/>
          </p:nvPr>
        </p:nvSpPr>
        <p:spPr/>
        <p:txBody>
          <a:bodyPr/>
          <a:lstStyle/>
          <a:p>
            <a:fld id="{FAA2D233-408A-4415-B919-B7ECAA5043E2}" type="datetime1">
              <a:rPr lang="en-IN" smtClean="0"/>
              <a:pPr/>
              <a:t>25-04-2026</a:t>
            </a:fld>
            <a:endParaRPr lang="en-IN" dirty="0"/>
          </a:p>
        </p:txBody>
      </p:sp>
      <p:sp>
        <p:nvSpPr>
          <p:cNvPr id="5" name="Footer Placeholder 4">
            <a:extLst>
              <a:ext uri="{FF2B5EF4-FFF2-40B4-BE49-F238E27FC236}">
                <a16:creationId xmlns:a16="http://schemas.microsoft.com/office/drawing/2014/main" xmlns=""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B163C8CA-61F8-0704-0F6E-DDDD2B9987DD}"/>
              </a:ext>
            </a:extLst>
          </p:cNvPr>
          <p:cNvSpPr>
            <a:spLocks noGrp="1"/>
          </p:cNvSpPr>
          <p:nvPr>
            <p:ph type="sldNum" sz="quarter" idx="12"/>
          </p:nvPr>
        </p:nvSpPr>
        <p:spPr/>
        <p:txBody>
          <a:body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pPr/>
              <a:t>25-04-2026</a:t>
            </a:fld>
            <a:endParaRPr lang="en-IN" dirty="0"/>
          </a:p>
        </p:txBody>
      </p:sp>
      <p:sp>
        <p:nvSpPr>
          <p:cNvPr id="5" name="Footer Placeholder 4">
            <a:extLst>
              <a:ext uri="{FF2B5EF4-FFF2-40B4-BE49-F238E27FC236}">
                <a16:creationId xmlns:a16="http://schemas.microsoft.com/office/drawing/2014/main" xmlns=""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xmlns=""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i.org/10.1038/s41598-021-01694-2" TargetMode="External"/><Relationship Id="rId2" Type="http://schemas.openxmlformats.org/officeDocument/2006/relationships/hyperlink" Target="https://doi.org/10.1016/j.procs.2020.03.228" TargetMode="External"/><Relationship Id="rId1" Type="http://schemas.openxmlformats.org/officeDocument/2006/relationships/slideLayout" Target="../slideLayouts/slideLayout2.xml"/><Relationship Id="rId4" Type="http://schemas.openxmlformats.org/officeDocument/2006/relationships/hyperlink" Target="https://doi.org/10.1016/j.jksuci.2022.03.01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US" b="1" dirty="0" smtClean="0">
                <a:solidFill>
                  <a:srgbClr val="17365D"/>
                </a:solidFill>
                <a:latin typeface="Cambria" panose="02040503050406030204" pitchFamily="18" charset="0"/>
                <a:ea typeface="Cambria" panose="02040503050406030204" pitchFamily="18" charset="0"/>
                <a:cs typeface="Verdana"/>
                <a:sym typeface="Verdana"/>
              </a:rPr>
              <a:t>Mr</a:t>
            </a:r>
            <a:r>
              <a:rPr lang="en-US" b="1" dirty="0">
                <a:solidFill>
                  <a:srgbClr val="17365D"/>
                </a:solidFill>
                <a:latin typeface="Cambria" panose="02040503050406030204" pitchFamily="18" charset="0"/>
                <a:ea typeface="Cambria" panose="02040503050406030204" pitchFamily="18" charset="0"/>
                <a:cs typeface="Verdana"/>
                <a:sym typeface="Verdana"/>
              </a:rPr>
              <a:t>. </a:t>
            </a:r>
            <a:r>
              <a:rPr lang="en-US" b="1" dirty="0" err="1">
                <a:solidFill>
                  <a:srgbClr val="17365D"/>
                </a:solidFill>
                <a:latin typeface="Cambria" panose="02040503050406030204" pitchFamily="18" charset="0"/>
                <a:ea typeface="Cambria" panose="02040503050406030204" pitchFamily="18" charset="0"/>
                <a:cs typeface="Verdana"/>
                <a:sym typeface="Verdana"/>
              </a:rPr>
              <a:t>Jerrin</a:t>
            </a:r>
            <a:r>
              <a:rPr lang="en-US" b="1" dirty="0">
                <a:solidFill>
                  <a:srgbClr val="17365D"/>
                </a:solidFill>
                <a:latin typeface="Cambria" panose="02040503050406030204" pitchFamily="18" charset="0"/>
                <a:ea typeface="Cambria" panose="02040503050406030204" pitchFamily="18" charset="0"/>
                <a:cs typeface="Verdana"/>
                <a:sym typeface="Verdana"/>
              </a:rPr>
              <a:t> </a:t>
            </a:r>
            <a:r>
              <a:rPr lang="en-US" b="1" dirty="0" err="1">
                <a:solidFill>
                  <a:srgbClr val="17365D"/>
                </a:solidFill>
                <a:latin typeface="Cambria" panose="02040503050406030204" pitchFamily="18" charset="0"/>
                <a:ea typeface="Cambria" panose="02040503050406030204" pitchFamily="18" charset="0"/>
                <a:cs typeface="Verdana"/>
                <a:sym typeface="Verdana"/>
              </a:rPr>
              <a:t>joe</a:t>
            </a:r>
            <a:r>
              <a:rPr lang="en-US" b="1" dirty="0">
                <a:solidFill>
                  <a:srgbClr val="17365D"/>
                </a:solidFill>
                <a:latin typeface="Cambria" panose="02040503050406030204" pitchFamily="18" charset="0"/>
                <a:ea typeface="Cambria" panose="02040503050406030204" pitchFamily="18" charset="0"/>
                <a:cs typeface="Verdana"/>
                <a:sym typeface="Verdana"/>
              </a:rPr>
              <a:t> Francis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Presidency School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of </a:t>
            </a: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B.Tech</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CSE</a:t>
            </a:r>
            <a:endPar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HoD</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Dr.Asif</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Mohammed</a:t>
            </a:r>
          </a:p>
          <a:p>
            <a:pPr>
              <a:buClr>
                <a:srgbClr val="17365D"/>
              </a:buClr>
              <a:buSzPct val="100000"/>
            </a:pP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Dr</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Balakrishnan</a:t>
            </a:r>
            <a:r>
              <a:rPr lang="en-US" sz="2000" b="1" dirty="0">
                <a:solidFill>
                  <a:schemeClr val="accent1"/>
                </a:solidFill>
                <a:latin typeface="Cambria" panose="02040503050406030204" pitchFamily="18" charset="0"/>
                <a:ea typeface="Cambria" panose="02040503050406030204" pitchFamily="18" charset="0"/>
                <a:cs typeface="Verdana"/>
                <a:sym typeface="Verdana"/>
              </a:rPr>
              <a:t> , </a:t>
            </a:r>
            <a:r>
              <a:rPr lang="en-US" sz="2000" b="1" dirty="0" err="1">
                <a:solidFill>
                  <a:schemeClr val="accent1"/>
                </a:solidFill>
                <a:latin typeface="Cambria" panose="02040503050406030204" pitchFamily="18" charset="0"/>
                <a:ea typeface="Cambria" panose="02040503050406030204" pitchFamily="18" charset="0"/>
                <a:cs typeface="Verdana"/>
                <a:sym typeface="Verdana"/>
              </a:rPr>
              <a:t>Dr</a:t>
            </a:r>
            <a:r>
              <a:rPr lang="en-US" sz="2000" b="1" dirty="0">
                <a:solidFill>
                  <a:schemeClr val="accent1"/>
                </a:solidFill>
                <a:latin typeface="Cambria" panose="02040503050406030204" pitchFamily="18" charset="0"/>
                <a:ea typeface="Cambria" panose="02040503050406030204" pitchFamily="18" charset="0"/>
                <a:cs typeface="Verdana"/>
                <a:sym typeface="Verdana"/>
              </a:rPr>
              <a:t>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Shakthi</a:t>
            </a: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 </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School Internship Coordinator: </a:t>
            </a:r>
            <a:r>
              <a:rPr lang="en-US" sz="2000" b="1" dirty="0">
                <a:latin typeface="Cambria" panose="02040503050406030204" pitchFamily="18" charset="0"/>
                <a:ea typeface="Cambria" panose="02040503050406030204" pitchFamily="18" charset="0"/>
                <a:cs typeface="Verdana"/>
                <a:sym typeface="Verdana"/>
              </a:rPr>
              <a:t>D</a:t>
            </a:r>
            <a:r>
              <a:rPr lang="en-US" sz="2000" b="1" dirty="0" smtClean="0">
                <a:latin typeface="Cambria" panose="02040503050406030204" pitchFamily="18" charset="0"/>
                <a:ea typeface="Cambria" panose="02040503050406030204" pitchFamily="18" charset="0"/>
                <a:cs typeface="Verdana"/>
                <a:sym typeface="Verdana"/>
              </a:rPr>
              <a:t>r</a:t>
            </a:r>
            <a:r>
              <a:rPr lang="en-US" sz="2000" b="1" dirty="0">
                <a:latin typeface="Cambria" panose="02040503050406030204" pitchFamily="18" charset="0"/>
                <a:ea typeface="Cambria" panose="02040503050406030204" pitchFamily="18" charset="0"/>
                <a:cs typeface="Verdana"/>
                <a:sym typeface="Verdana"/>
              </a:rPr>
              <a:t>. Md Ziaur </a:t>
            </a:r>
            <a:r>
              <a:rPr lang="en-US" sz="2000" b="1" dirty="0" smtClean="0">
                <a:latin typeface="Cambria" panose="02040503050406030204" pitchFamily="18" charset="0"/>
                <a:ea typeface="Cambria" panose="02040503050406030204" pitchFamily="18" charset="0"/>
                <a:cs typeface="Verdana"/>
                <a:sym typeface="Verdana"/>
              </a:rPr>
              <a:t>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r>
              <a:rPr lang="en-US" sz="2000" b="1" dirty="0" smtClean="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smtClean="0">
                <a:solidFill>
                  <a:schemeClr val="accent1">
                    <a:lumMod val="75000"/>
                  </a:schemeClr>
                </a:solidFill>
                <a:latin typeface="Times New Roman" panose="02020603050405020304" pitchFamily="18" charset="0"/>
                <a:cs typeface="Times New Roman" panose="02020603050405020304" pitchFamily="18" charset="0"/>
              </a:rPr>
              <a:t>CSE7302 - INTERNSHIP</a:t>
            </a:r>
            <a:r>
              <a:rPr lang="en-IN" dirty="0" smtClean="0">
                <a:solidFill>
                  <a:srgbClr val="FF0000"/>
                </a:solidFill>
                <a:latin typeface="Times New Roman" panose="02020603050405020304" pitchFamily="18" charset="0"/>
                <a:cs typeface="Times New Roman" panose="02020603050405020304" pitchFamily="18" charset="0"/>
              </a:rPr>
              <a:t/>
            </a:r>
            <a:br>
              <a:rPr lang="en-IN" dirty="0" smtClean="0">
                <a:solidFill>
                  <a:srgbClr val="FF0000"/>
                </a:solidFill>
                <a:latin typeface="Times New Roman" panose="02020603050405020304" pitchFamily="18" charset="0"/>
                <a:cs typeface="Times New Roman" panose="02020603050405020304" pitchFamily="18" charset="0"/>
              </a:rPr>
            </a:br>
            <a:r>
              <a:rPr lang="en-US" sz="2400" smtClean="0">
                <a:solidFill>
                  <a:schemeClr val="accent1"/>
                </a:solidFill>
                <a:latin typeface="Times New Roman" panose="02020603050405020304" pitchFamily="18" charset="0"/>
                <a:ea typeface="Tahoma" pitchFamily="34" charset="0"/>
                <a:cs typeface="Times New Roman" panose="02020603050405020304" pitchFamily="18" charset="0"/>
              </a:rPr>
              <a:t>Review-5 </a:t>
            </a:r>
            <a:r>
              <a:rPr lang="en-US" sz="2400" dirty="0" smtClean="0">
                <a:solidFill>
                  <a:schemeClr val="accent1"/>
                </a:solidFill>
                <a:latin typeface="Times New Roman" panose="02020603050405020304" pitchFamily="18" charset="0"/>
                <a:ea typeface="Tahoma" pitchFamily="34" charset="0"/>
                <a:cs typeface="Times New Roman" panose="02020603050405020304" pitchFamily="18" charset="0"/>
              </a:rPr>
              <a:t>Presentation </a:t>
            </a:r>
            <a:br>
              <a:rPr lang="en-US" sz="2400" dirty="0" smtClean="0">
                <a:solidFill>
                  <a:schemeClr val="accent1"/>
                </a:solidFill>
                <a:latin typeface="Times New Roman" panose="02020603050405020304" pitchFamily="18" charset="0"/>
                <a:ea typeface="Tahoma" pitchFamily="34" charset="0"/>
                <a:cs typeface="Times New Roman" panose="02020603050405020304" pitchFamily="18" charset="0"/>
              </a:rPr>
            </a:br>
            <a:r>
              <a:rPr lang="en-US" sz="2400" dirty="0" smtClean="0">
                <a:solidFill>
                  <a:schemeClr val="accent1"/>
                </a:solidFill>
                <a:latin typeface="Cambria" panose="02040503050406030204" pitchFamily="18" charset="0"/>
                <a:ea typeface="Cambria" panose="02040503050406030204" pitchFamily="18" charset="0"/>
              </a:rPr>
              <a:t> </a:t>
            </a:r>
            <a:r>
              <a:rPr lang="en-US" sz="2400" dirty="0">
                <a:solidFill>
                  <a:schemeClr val="accent1"/>
                </a:solidFill>
                <a:latin typeface="Cambria" panose="02040503050406030204" pitchFamily="18" charset="0"/>
                <a:ea typeface="Cambria" panose="02040503050406030204" pitchFamily="18" charset="0"/>
              </a:rPr>
              <a:t>PREDICTIVE ANALYTICS APPROACH FOR CHRONIC KIDNEY DISEASE  DETECTION USING MACHINE LEARNING </a:t>
            </a:r>
            <a:r>
              <a:rPr lang="en-US" sz="2400" dirty="0" smtClean="0">
                <a:solidFill>
                  <a:schemeClr val="accent1"/>
                </a:solidFill>
                <a:latin typeface="Times New Roman" panose="02020603050405020304" pitchFamily="18" charset="0"/>
                <a:ea typeface="Tahoma" pitchFamily="34" charset="0"/>
                <a:cs typeface="Times New Roman" panose="02020603050405020304" pitchFamily="18" charset="0"/>
              </a:rPr>
              <a:t/>
            </a:r>
            <a:br>
              <a:rPr lang="en-US" sz="2400" dirty="0" smtClean="0">
                <a:solidFill>
                  <a:schemeClr val="accent1"/>
                </a:solidFill>
                <a:latin typeface="Times New Roman" panose="02020603050405020304" pitchFamily="18" charset="0"/>
                <a:ea typeface="Tahoma" pitchFamily="34" charset="0"/>
                <a:cs typeface="Times New Roman" panose="02020603050405020304" pitchFamily="18" charset="0"/>
              </a:rPr>
            </a:br>
            <a:endParaRPr lang="en-US" sz="2400" dirty="0">
              <a:solidFill>
                <a:schemeClr val="accent1"/>
              </a:solidFill>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521921270"/>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xmlns="" val="2689928737"/>
                    </a:ext>
                  </a:extLst>
                </a:gridCol>
                <a:gridCol w="3950282">
                  <a:extLst>
                    <a:ext uri="{9D8B030D-6E8A-4147-A177-3AD203B41FA5}">
                      <a16:colId xmlns:a16="http://schemas.microsoft.com/office/drawing/2014/main" xmlns="" val="3965538731"/>
                    </a:ext>
                  </a:extLst>
                </a:gridCol>
              </a:tblGrid>
              <a:tr h="362263">
                <a:tc gridSpan="2">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96510531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err="1" smtClean="0">
                          <a:latin typeface="Cambria" panose="02040503050406030204" pitchFamily="18" charset="0"/>
                          <a:ea typeface="Cambria" panose="02040503050406030204" pitchFamily="18" charset="0"/>
                          <a:cs typeface="Times New Roman" panose="02020603050405020304" pitchFamily="18" charset="0"/>
                        </a:rPr>
                        <a:t>Rohitha</a:t>
                      </a:r>
                      <a:r>
                        <a:rPr lang="en-US" baseline="0" dirty="0" smtClean="0">
                          <a:latin typeface="Cambria" panose="02040503050406030204" pitchFamily="18" charset="0"/>
                          <a:ea typeface="Cambria" panose="02040503050406030204" pitchFamily="18" charset="0"/>
                          <a:cs typeface="Times New Roman" panose="02020603050405020304" pitchFamily="18" charset="0"/>
                        </a:rPr>
                        <a:t> 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xmlns="" val="673540802"/>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20221CSE0707</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xmlns="" val="1825509489"/>
                  </a:ext>
                </a:extLst>
              </a:tr>
              <a:tr h="362263">
                <a:tc>
                  <a:txBody>
                    <a:bodyPr/>
                    <a:lstStyle/>
                    <a:p>
                      <a:pPr algn="l"/>
                      <a:r>
                        <a:rPr lang="en-US" b="1" dirty="0" smtClean="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smtClean="0">
                          <a:latin typeface="Cambria" panose="02040503050406030204" pitchFamily="18" charset="0"/>
                          <a:ea typeface="Cambria" panose="02040503050406030204" pitchFamily="18" charset="0"/>
                          <a:cs typeface="Times New Roman" panose="02020603050405020304" pitchFamily="18" charset="0"/>
                        </a:rPr>
                        <a:t>8CSE09</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xmlns="" val="1278268189"/>
                  </a:ext>
                </a:extLst>
              </a:tr>
            </a:tbl>
          </a:graphicData>
        </a:graphic>
      </p:graphicFrame>
    </p:spTree>
    <p:extLst>
      <p:ext uri="{BB962C8B-B14F-4D97-AF65-F5344CB8AC3E}">
        <p14:creationId xmlns:p14="http://schemas.microsoft.com/office/powerpoint/2010/main" val="32978620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smtClean="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a:t>
            </a:r>
            <a:r>
              <a:rPr lang="en-US" sz="2000" b="1" dirty="0" smtClean="0">
                <a:solidFill>
                  <a:srgbClr val="0070C0"/>
                </a:solidFill>
                <a:latin typeface="Times New Roman" panose="02020603050405020304" pitchFamily="18" charset="0"/>
                <a:cs typeface="Times New Roman" panose="02020603050405020304" pitchFamily="18" charset="0"/>
              </a:rPr>
              <a:t>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work</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System Testing</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Conclusion</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References</a:t>
            </a: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smtClean="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23948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855036" cy="4883924"/>
          </a:xfrm>
        </p:spPr>
        <p:txBody>
          <a:bodyPr>
            <a:noAutofit/>
          </a:bodyPr>
          <a:lstStyle/>
          <a:p>
            <a:pPr>
              <a:buNone/>
            </a:pPr>
            <a:r>
              <a:rPr lang="en-US" b="1" dirty="0" smtClean="0">
                <a:latin typeface="Times New Roman" pitchFamily="18" charset="0"/>
                <a:cs typeface="Times New Roman" pitchFamily="18" charset="0"/>
              </a:rPr>
              <a:t>Domain: </a:t>
            </a:r>
            <a:r>
              <a:rPr lang="en-US" sz="2500" b="1" dirty="0" smtClean="0">
                <a:latin typeface="Times New Roman" pitchFamily="18" charset="0"/>
                <a:cs typeface="Times New Roman" pitchFamily="18" charset="0"/>
              </a:rPr>
              <a:t>Front End Development</a:t>
            </a:r>
            <a:r>
              <a:rPr lang="en-US" sz="2400" b="1" dirty="0" smtClean="0">
                <a:latin typeface="Times New Roman" pitchFamily="18" charset="0"/>
                <a:cs typeface="Times New Roman" pitchFamily="18" charset="0"/>
              </a:rPr>
              <a:t>		</a:t>
            </a:r>
          </a:p>
          <a:p>
            <a:pPr lvl="1"/>
            <a:r>
              <a:rPr lang="en-US" sz="2000" dirty="0">
                <a:latin typeface="Times New Roman" pitchFamily="18" charset="0"/>
                <a:cs typeface="Times New Roman" pitchFamily="18" charset="0"/>
              </a:rPr>
              <a:t>The project uses </a:t>
            </a:r>
            <a:r>
              <a:rPr lang="en-US" sz="2000" b="1" dirty="0">
                <a:latin typeface="Times New Roman" pitchFamily="18" charset="0"/>
                <a:cs typeface="Times New Roman" pitchFamily="18" charset="0"/>
              </a:rPr>
              <a:t>Machine Learning techniques</a:t>
            </a:r>
            <a:r>
              <a:rPr lang="en-US" sz="2000" dirty="0">
                <a:latin typeface="Times New Roman" pitchFamily="18" charset="0"/>
                <a:cs typeface="Times New Roman" pitchFamily="18" charset="0"/>
              </a:rPr>
              <a:t> to predict Chronic Kidney Disease based on patient medical data</a:t>
            </a:r>
            <a:r>
              <a:rPr lang="en-US" sz="2000" dirty="0" smtClean="0">
                <a:latin typeface="Times New Roman" pitchFamily="18" charset="0"/>
                <a:cs typeface="Times New Roman" pitchFamily="18" charset="0"/>
              </a:rPr>
              <a:t>.</a:t>
            </a:r>
          </a:p>
          <a:p>
            <a:pPr lvl="1"/>
            <a:r>
              <a:rPr lang="en-US" sz="2000" dirty="0">
                <a:latin typeface="Times New Roman" pitchFamily="18" charset="0"/>
                <a:cs typeface="Times New Roman" pitchFamily="18" charset="0"/>
              </a:rPr>
              <a:t>A machine learning model is trained using </a:t>
            </a:r>
            <a:r>
              <a:rPr lang="en-US" sz="2000" b="1" dirty="0">
                <a:latin typeface="Times New Roman" pitchFamily="18" charset="0"/>
                <a:cs typeface="Times New Roman" pitchFamily="18" charset="0"/>
              </a:rPr>
              <a:t>medical dataset values</a:t>
            </a:r>
            <a:r>
              <a:rPr lang="en-US" sz="2000" dirty="0">
                <a:latin typeface="Times New Roman" pitchFamily="18" charset="0"/>
                <a:cs typeface="Times New Roman" pitchFamily="18" charset="0"/>
              </a:rPr>
              <a:t> such as blood pressure, sugar level, hemoglobin, and other health parameters</a:t>
            </a:r>
            <a:r>
              <a:rPr lang="en-US" sz="2000" dirty="0" smtClean="0">
                <a:latin typeface="Times New Roman" pitchFamily="18" charset="0"/>
                <a:cs typeface="Times New Roman" pitchFamily="18" charset="0"/>
              </a:rPr>
              <a:t>.</a:t>
            </a:r>
          </a:p>
          <a:p>
            <a:pPr lvl="1"/>
            <a:r>
              <a:rPr lang="en-US" sz="2000" dirty="0">
                <a:latin typeface="Times New Roman" pitchFamily="18" charset="0"/>
                <a:cs typeface="Times New Roman" pitchFamily="18" charset="0"/>
              </a:rPr>
              <a:t>The </a:t>
            </a:r>
            <a:r>
              <a:rPr lang="en-US" sz="2000" b="1" dirty="0">
                <a:latin typeface="Times New Roman" pitchFamily="18" charset="0"/>
                <a:cs typeface="Times New Roman" pitchFamily="18" charset="0"/>
              </a:rPr>
              <a:t>backend system is developed using Python and </a:t>
            </a:r>
            <a:r>
              <a:rPr lang="en-US" sz="2000" b="1" dirty="0" err="1">
                <a:latin typeface="Times New Roman" pitchFamily="18" charset="0"/>
                <a:cs typeface="Times New Roman" pitchFamily="18" charset="0"/>
              </a:rPr>
              <a:t>FastAPI</a:t>
            </a:r>
            <a:r>
              <a:rPr lang="en-US" sz="2000" dirty="0">
                <a:latin typeface="Times New Roman" pitchFamily="18" charset="0"/>
                <a:cs typeface="Times New Roman" pitchFamily="18" charset="0"/>
              </a:rPr>
              <a:t> to handle API requests and responses.</a:t>
            </a:r>
            <a:endParaRPr lang="en-US" sz="2000" dirty="0" smtClean="0">
              <a:latin typeface="Times New Roman" pitchFamily="18" charset="0"/>
              <a:cs typeface="Times New Roman" pitchFamily="18" charset="0"/>
            </a:endParaRPr>
          </a:p>
          <a:p>
            <a:pPr>
              <a:buNone/>
            </a:pPr>
            <a:r>
              <a:rPr lang="en-US" b="1" dirty="0" smtClean="0">
                <a:latin typeface="Times New Roman" pitchFamily="18" charset="0"/>
                <a:cs typeface="Times New Roman" pitchFamily="18" charset="0"/>
              </a:rPr>
              <a:t>Technologies Used</a:t>
            </a:r>
          </a:p>
          <a:p>
            <a:pPr lvl="1"/>
            <a:r>
              <a:rPr lang="en-US" b="1" dirty="0" smtClean="0">
                <a:latin typeface="Times New Roman" pitchFamily="18" charset="0"/>
                <a:cs typeface="Times New Roman" pitchFamily="18" charset="0"/>
              </a:rPr>
              <a:t>Frontend:</a:t>
            </a:r>
            <a:r>
              <a:rPr lang="en-US" dirty="0" smtClean="0">
                <a:latin typeface="Times New Roman" pitchFamily="18" charset="0"/>
                <a:cs typeface="Times New Roman" pitchFamily="18" charset="0"/>
              </a:rPr>
              <a:t> React.js</a:t>
            </a:r>
          </a:p>
          <a:p>
            <a:pPr lvl="1"/>
            <a:r>
              <a:rPr lang="en-US" b="1" dirty="0" smtClean="0">
                <a:latin typeface="Times New Roman" pitchFamily="18" charset="0"/>
                <a:cs typeface="Times New Roman" pitchFamily="18" charset="0"/>
              </a:rPr>
              <a:t>Backend:</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Python, </a:t>
            </a:r>
            <a:r>
              <a:rPr lang="en-US" dirty="0" err="1" smtClean="0">
                <a:latin typeface="Times New Roman" pitchFamily="18" charset="0"/>
                <a:cs typeface="Times New Roman" pitchFamily="18" charset="0"/>
              </a:rPr>
              <a:t>FastAPI</a:t>
            </a:r>
            <a:endParaRPr lang="en-US" dirty="0" smtClean="0">
              <a:latin typeface="Times New Roman" pitchFamily="18" charset="0"/>
              <a:cs typeface="Times New Roman" pitchFamily="18" charset="0"/>
            </a:endParaRPr>
          </a:p>
          <a:p>
            <a:pPr lvl="1"/>
            <a:r>
              <a:rPr lang="en-US" b="1" dirty="0" smtClean="0">
                <a:latin typeface="Times New Roman" pitchFamily="18" charset="0"/>
                <a:cs typeface="Times New Roman" pitchFamily="18" charset="0"/>
              </a:rPr>
              <a:t>Machine </a:t>
            </a:r>
            <a:r>
              <a:rPr lang="en-US" b="1" dirty="0">
                <a:latin typeface="Times New Roman" pitchFamily="18" charset="0"/>
                <a:cs typeface="Times New Roman" pitchFamily="18" charset="0"/>
              </a:rPr>
              <a:t>Learning Libraries:</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Scikit</a:t>
            </a:r>
            <a:r>
              <a:rPr lang="en-US" dirty="0">
                <a:latin typeface="Times New Roman" pitchFamily="18" charset="0"/>
                <a:cs typeface="Times New Roman" pitchFamily="18" charset="0"/>
              </a:rPr>
              <a:t>-learn, Pandas, </a:t>
            </a:r>
            <a:r>
              <a:rPr lang="en-US" dirty="0" err="1">
                <a:latin typeface="Times New Roman" pitchFamily="18" charset="0"/>
                <a:cs typeface="Times New Roman" pitchFamily="18" charset="0"/>
              </a:rPr>
              <a:t>NumPy</a:t>
            </a:r>
            <a:endParaRPr lang="en-US" dirty="0">
              <a:latin typeface="Times New Roman" pitchFamily="18" charset="0"/>
              <a:cs typeface="Times New Roman" pitchFamily="18" charset="0"/>
            </a:endParaRPr>
          </a:p>
          <a:p>
            <a:pPr lvl="1"/>
            <a:r>
              <a:rPr lang="en-US" b="1" dirty="0" smtClean="0">
                <a:latin typeface="Times New Roman" pitchFamily="18" charset="0"/>
                <a:cs typeface="Times New Roman" pitchFamily="18" charset="0"/>
              </a:rPr>
              <a:t>Server</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Uvicorn</a:t>
            </a:r>
            <a:endParaRPr lang="en-US" dirty="0" smtClean="0">
              <a:latin typeface="Times New Roman" pitchFamily="18" charset="0"/>
              <a:cs typeface="Times New Roman" pitchFamily="18" charset="0"/>
            </a:endParaRPr>
          </a:p>
          <a:p>
            <a:pPr lvl="1"/>
            <a:r>
              <a:rPr lang="en-US" b="1" dirty="0" smtClean="0">
                <a:latin typeface="Times New Roman" pitchFamily="18" charset="0"/>
                <a:cs typeface="Times New Roman" pitchFamily="18" charset="0"/>
              </a:rPr>
              <a:t>Tool:</a:t>
            </a:r>
            <a:r>
              <a:rPr lang="en-US" dirty="0" smtClean="0">
                <a:latin typeface="Times New Roman" pitchFamily="18" charset="0"/>
                <a:cs typeface="Times New Roman" pitchFamily="18" charset="0"/>
              </a:rPr>
              <a:t> VS Code</a:t>
            </a:r>
          </a:p>
          <a:p>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6586821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About Company or Organization</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45031"/>
            <a:ext cx="10515600" cy="4193176"/>
          </a:xfrm>
        </p:spPr>
        <p:txBody>
          <a:bodyPr>
            <a:normAutofit fontScale="92500" lnSpcReduction="20000"/>
          </a:bodyPr>
          <a:lstStyle/>
          <a:p>
            <a:r>
              <a:rPr lang="en-US" sz="2600" b="1" dirty="0" smtClean="0">
                <a:latin typeface="Times New Roman" pitchFamily="18" charset="0"/>
                <a:cs typeface="Times New Roman" pitchFamily="18" charset="0"/>
              </a:rPr>
              <a:t>Rail Wheel Factory (RWF) </a:t>
            </a:r>
            <a:r>
              <a:rPr lang="en-US" sz="2600" dirty="0" smtClean="0">
                <a:latin typeface="Times New Roman" pitchFamily="18" charset="0"/>
                <a:cs typeface="Times New Roman" pitchFamily="18" charset="0"/>
              </a:rPr>
              <a:t>is a Government of India organization under the Ministry of Railways</a:t>
            </a:r>
          </a:p>
          <a:p>
            <a:r>
              <a:rPr lang="en-US" sz="2600" dirty="0" smtClean="0">
                <a:latin typeface="Times New Roman" pitchFamily="18" charset="0"/>
                <a:cs typeface="Times New Roman" pitchFamily="18" charset="0"/>
              </a:rPr>
              <a:t>Located in </a:t>
            </a:r>
            <a:r>
              <a:rPr lang="en-US" sz="2600" dirty="0" err="1" smtClean="0">
                <a:latin typeface="Times New Roman" pitchFamily="18" charset="0"/>
                <a:cs typeface="Times New Roman" pitchFamily="18" charset="0"/>
              </a:rPr>
              <a:t>Yelahanka</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Bengaluru</a:t>
            </a: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Focuses on modernization and digitalization of internal system</a:t>
            </a:r>
          </a:p>
          <a:p>
            <a:r>
              <a:rPr lang="en-US" sz="2600" dirty="0" smtClean="0">
                <a:latin typeface="Times New Roman" pitchFamily="18" charset="0"/>
                <a:cs typeface="Times New Roman" pitchFamily="18" charset="0"/>
              </a:rPr>
              <a:t>Uses software and IT solutions to improve data management and efficiency</a:t>
            </a:r>
          </a:p>
          <a:p>
            <a:pPr marL="0" indent="0">
              <a:buNone/>
            </a:pPr>
            <a:endParaRPr lang="en-US" sz="2600" dirty="0" smtClean="0">
              <a:latin typeface="Times New Roman" pitchFamily="18" charset="0"/>
              <a:cs typeface="Times New Roman" pitchFamily="18" charset="0"/>
            </a:endParaRPr>
          </a:p>
          <a:p>
            <a:pPr marL="0" indent="0">
              <a:buNone/>
            </a:pPr>
            <a:r>
              <a:rPr lang="en-US" sz="2600" b="1" dirty="0" smtClean="0">
                <a:latin typeface="Times New Roman" pitchFamily="18" charset="0"/>
                <a:cs typeface="Times New Roman" pitchFamily="18" charset="0"/>
              </a:rPr>
              <a:t>Products &amp; Services</a:t>
            </a:r>
          </a:p>
          <a:p>
            <a:r>
              <a:rPr lang="en-US" sz="2600" dirty="0" smtClean="0">
                <a:latin typeface="Times New Roman" pitchFamily="18" charset="0"/>
                <a:cs typeface="Times New Roman" pitchFamily="18" charset="0"/>
              </a:rPr>
              <a:t>Provides manufacturing and maintenance support to Indian Railways</a:t>
            </a:r>
          </a:p>
          <a:p>
            <a:r>
              <a:rPr lang="en-US" sz="2600" dirty="0" smtClean="0">
                <a:latin typeface="Times New Roman" pitchFamily="18" charset="0"/>
                <a:cs typeface="Times New Roman" pitchFamily="18" charset="0"/>
              </a:rPr>
              <a:t>Offers technical and engineering services for railway infrastructure</a:t>
            </a:r>
          </a:p>
          <a:p>
            <a:r>
              <a:rPr lang="en-US" sz="2600" dirty="0" smtClean="0">
                <a:latin typeface="Times New Roman" pitchFamily="18" charset="0"/>
                <a:cs typeface="Times New Roman" pitchFamily="18" charset="0"/>
              </a:rPr>
              <a:t>Uses digital systems for data management and internal operations</a:t>
            </a:r>
          </a:p>
          <a:p>
            <a:r>
              <a:rPr lang="en-US" sz="2600" dirty="0" smtClean="0">
                <a:latin typeface="Times New Roman" pitchFamily="18" charset="0"/>
                <a:cs typeface="Times New Roman" pitchFamily="18" charset="0"/>
              </a:rPr>
              <a:t>Supports automation and software-based solutions inside the organization</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15581389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lnSpcReduction="10000"/>
          </a:bodyPr>
          <a:lstStyle/>
          <a:p>
            <a:pPr algn="just"/>
            <a:r>
              <a:rPr lang="en-US" dirty="0">
                <a:latin typeface="Times New Roman" pitchFamily="18" charset="0"/>
                <a:cs typeface="Times New Roman" pitchFamily="18" charset="0"/>
              </a:rPr>
              <a:t>I am working under the guidance of </a:t>
            </a:r>
            <a:r>
              <a:rPr lang="en-US" dirty="0" smtClean="0">
                <a:latin typeface="Times New Roman" pitchFamily="18" charset="0"/>
                <a:cs typeface="Times New Roman" pitchFamily="18" charset="0"/>
              </a:rPr>
              <a:t>My </a:t>
            </a:r>
            <a:r>
              <a:rPr lang="en-US" dirty="0">
                <a:latin typeface="Times New Roman" pitchFamily="18" charset="0"/>
                <a:cs typeface="Times New Roman" pitchFamily="18" charset="0"/>
              </a:rPr>
              <a:t>Team Lead, Mr. Buddha </a:t>
            </a:r>
            <a:r>
              <a:rPr lang="en-US" dirty="0" err="1">
                <a:latin typeface="Times New Roman" pitchFamily="18" charset="0"/>
                <a:cs typeface="Times New Roman" pitchFamily="18" charset="0"/>
              </a:rPr>
              <a:t>Appa</a:t>
            </a:r>
            <a:r>
              <a:rPr lang="en-US" dirty="0">
                <a:latin typeface="Times New Roman" pitchFamily="18" charset="0"/>
                <a:cs typeface="Times New Roman" pitchFamily="18" charset="0"/>
              </a:rPr>
              <a:t> Rao, at Rail Wheel </a:t>
            </a:r>
            <a:r>
              <a:rPr lang="en-US" dirty="0" smtClean="0">
                <a:latin typeface="Times New Roman" pitchFamily="18" charset="0"/>
                <a:cs typeface="Times New Roman" pitchFamily="18" charset="0"/>
              </a:rPr>
              <a:t>Factory</a:t>
            </a:r>
          </a:p>
          <a:p>
            <a:pPr algn="just"/>
            <a:r>
              <a:rPr lang="en-US" dirty="0">
                <a:latin typeface="Times New Roman" pitchFamily="18" charset="0"/>
                <a:cs typeface="Times New Roman" pitchFamily="18" charset="0"/>
              </a:rPr>
              <a:t>The project team consists of software engineers, supervisors, and interns</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I am actively involved in the development of </a:t>
            </a:r>
            <a:r>
              <a:rPr lang="en-US" dirty="0" smtClean="0">
                <a:latin typeface="Times New Roman" pitchFamily="18" charset="0"/>
                <a:cs typeface="Times New Roman" pitchFamily="18" charset="0"/>
              </a:rPr>
              <a:t>an </a:t>
            </a:r>
            <a:r>
              <a:rPr lang="en-US" b="1" dirty="0">
                <a:latin typeface="Times New Roman" pitchFamily="18" charset="0"/>
                <a:cs typeface="Times New Roman" pitchFamily="18" charset="0"/>
              </a:rPr>
              <a:t>Chronic Kidney </a:t>
            </a:r>
            <a:r>
              <a:rPr lang="en-US" b="1" dirty="0" smtClean="0">
                <a:latin typeface="Times New Roman" pitchFamily="18" charset="0"/>
                <a:cs typeface="Times New Roman" pitchFamily="18" charset="0"/>
              </a:rPr>
              <a:t>Disease.</a:t>
            </a:r>
          </a:p>
          <a:p>
            <a:pPr algn="just"/>
            <a:r>
              <a:rPr lang="en-US" dirty="0">
                <a:latin typeface="Times New Roman" pitchFamily="18" charset="0"/>
                <a:cs typeface="Times New Roman" pitchFamily="18" charset="0"/>
              </a:rPr>
              <a:t>My roles and responsibilities include frontend </a:t>
            </a:r>
            <a:r>
              <a:rPr lang="en-US" dirty="0" smtClean="0">
                <a:latin typeface="Times New Roman" pitchFamily="18" charset="0"/>
                <a:cs typeface="Times New Roman" pitchFamily="18" charset="0"/>
              </a:rPr>
              <a:t>and</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backend development.</a:t>
            </a:r>
          </a:p>
          <a:p>
            <a:pPr algn="just"/>
            <a:r>
              <a:rPr lang="en-US" dirty="0" smtClean="0">
                <a:latin typeface="Times New Roman" pitchFamily="18" charset="0"/>
                <a:cs typeface="Times New Roman" pitchFamily="18" charset="0"/>
              </a:rPr>
              <a:t>Regular </a:t>
            </a:r>
            <a:r>
              <a:rPr lang="en-US" dirty="0">
                <a:latin typeface="Times New Roman" pitchFamily="18" charset="0"/>
                <a:cs typeface="Times New Roman" pitchFamily="18" charset="0"/>
              </a:rPr>
              <a:t>review meetings and discussions are helping me enhance my technical expertise and professional skills.</a:t>
            </a:r>
            <a:endParaRPr lang="en-US" dirty="0" smtClean="0">
              <a:latin typeface="Times New Roman" pitchFamily="18" charset="0"/>
              <a:cs typeface="Times New Roman" pitchFamily="18" charset="0"/>
            </a:endParaRPr>
          </a:p>
          <a:p>
            <a:pPr>
              <a:buNone/>
            </a:pPr>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09623"/>
            <a:ext cx="10515600" cy="3732938"/>
          </a:xfrm>
        </p:spPr>
        <p:txBody>
          <a:bodyPr/>
          <a:lstStyle/>
          <a:p>
            <a:pPr algn="just"/>
            <a:r>
              <a:rPr lang="en-US" dirty="0" smtClean="0">
                <a:latin typeface="Times New Roman" pitchFamily="18" charset="0"/>
                <a:cs typeface="Times New Roman" pitchFamily="18" charset="0"/>
              </a:rPr>
              <a:t>Understanding </a:t>
            </a:r>
            <a:r>
              <a:rPr lang="en-US" dirty="0">
                <a:latin typeface="Times New Roman" pitchFamily="18" charset="0"/>
                <a:cs typeface="Times New Roman" pitchFamily="18" charset="0"/>
              </a:rPr>
              <a:t>the </a:t>
            </a:r>
            <a:r>
              <a:rPr lang="en-US" b="1" dirty="0" err="1">
                <a:latin typeface="Times New Roman" pitchFamily="18" charset="0"/>
                <a:cs typeface="Times New Roman" pitchFamily="18" charset="0"/>
              </a:rPr>
              <a:t>FastAPI</a:t>
            </a:r>
            <a:r>
              <a:rPr lang="en-US" b="1" dirty="0">
                <a:latin typeface="Times New Roman" pitchFamily="18" charset="0"/>
                <a:cs typeface="Times New Roman" pitchFamily="18" charset="0"/>
              </a:rPr>
              <a:t> framework</a:t>
            </a:r>
            <a:r>
              <a:rPr lang="en-US" dirty="0">
                <a:latin typeface="Times New Roman" pitchFamily="18" charset="0"/>
                <a:cs typeface="Times New Roman" pitchFamily="18" charset="0"/>
              </a:rPr>
              <a:t> and learning how to create API endpoints.</a:t>
            </a:r>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Setting </a:t>
            </a:r>
            <a:r>
              <a:rPr lang="en-US" dirty="0">
                <a:latin typeface="Times New Roman" pitchFamily="18" charset="0"/>
                <a:cs typeface="Times New Roman" pitchFamily="18" charset="0"/>
              </a:rPr>
              <a:t>up the backend environment and required Python libraries</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Integrating the machine learning model with the backend API</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Debugging errors while running the application using </a:t>
            </a:r>
            <a:r>
              <a:rPr lang="en-US" dirty="0" err="1">
                <a:latin typeface="Times New Roman" pitchFamily="18" charset="0"/>
                <a:cs typeface="Times New Roman" pitchFamily="18" charset="0"/>
              </a:rPr>
              <a:t>Uvicorn</a:t>
            </a:r>
            <a:r>
              <a:rPr lang="en-US" dirty="0">
                <a:latin typeface="Times New Roman" pitchFamily="18" charset="0"/>
                <a:cs typeface="Times New Roman" pitchFamily="18" charset="0"/>
              </a:rPr>
              <a:t> server</a:t>
            </a:r>
            <a:r>
              <a:rPr lang="en-US" dirty="0" smtClean="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Objectives of the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lnSpcReduction="10000"/>
          </a:bodyPr>
          <a:lstStyle/>
          <a:p>
            <a:pPr algn="just"/>
            <a:r>
              <a:rPr lang="en-US" dirty="0">
                <a:latin typeface="Times New Roman" pitchFamily="18" charset="0"/>
                <a:cs typeface="Times New Roman" pitchFamily="18" charset="0"/>
              </a:rPr>
              <a:t>To build a system that can </a:t>
            </a:r>
            <a:r>
              <a:rPr lang="en-US" b="1" dirty="0">
                <a:latin typeface="Times New Roman" pitchFamily="18" charset="0"/>
                <a:cs typeface="Times New Roman" pitchFamily="18" charset="0"/>
              </a:rPr>
              <a:t>analyze patient medical data</a:t>
            </a:r>
            <a:r>
              <a:rPr lang="en-US" dirty="0">
                <a:latin typeface="Times New Roman" pitchFamily="18" charset="0"/>
                <a:cs typeface="Times New Roman" pitchFamily="18" charset="0"/>
              </a:rPr>
              <a:t> for Chronic Kidney Disease prediction</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To develop a backend system using Python and </a:t>
            </a:r>
            <a:r>
              <a:rPr lang="en-US" dirty="0" err="1">
                <a:latin typeface="Times New Roman" pitchFamily="18" charset="0"/>
                <a:cs typeface="Times New Roman" pitchFamily="18" charset="0"/>
              </a:rPr>
              <a:t>FastAPI</a:t>
            </a:r>
            <a:r>
              <a:rPr lang="en-US" dirty="0">
                <a:latin typeface="Times New Roman" pitchFamily="18" charset="0"/>
                <a:cs typeface="Times New Roman" pitchFamily="18" charset="0"/>
              </a:rPr>
              <a:t> for handling application requests</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To integrate a machine learning model with the backend for generating prediction results</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To </a:t>
            </a:r>
            <a:r>
              <a:rPr lang="en-US" dirty="0">
                <a:latin typeface="Times New Roman" pitchFamily="18" charset="0"/>
                <a:cs typeface="Times New Roman" pitchFamily="18" charset="0"/>
              </a:rPr>
              <a:t>create REST APIs that allow communication between the frontend interface and backend server</a:t>
            </a:r>
            <a:r>
              <a:rPr lang="en-US" dirty="0" smtClean="0">
                <a:latin typeface="Times New Roman" pitchFamily="18" charset="0"/>
                <a:cs typeface="Times New Roman" pitchFamily="18" charset="0"/>
              </a:rPr>
              <a:t>.</a:t>
            </a:r>
          </a:p>
          <a:p>
            <a:pPr algn="just"/>
            <a:r>
              <a:rPr lang="en-US" dirty="0">
                <a:latin typeface="Times New Roman" pitchFamily="18" charset="0"/>
                <a:cs typeface="Times New Roman" pitchFamily="18" charset="0"/>
              </a:rPr>
              <a:t>To process user input data and return accurate prediction results efficiently</a:t>
            </a:r>
            <a:r>
              <a:rPr lang="en-US" dirty="0" smtClean="0">
                <a:latin typeface="Times New Roman" pitchFamily="18" charset="0"/>
                <a:cs typeface="Times New Roman" pitchFamily="18" charset="0"/>
              </a:rPr>
              <a:t>.</a:t>
            </a:r>
          </a:p>
          <a:p>
            <a:pPr algn="just"/>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184367"/>
            <a:ext cx="10515600" cy="4058194"/>
          </a:xfrm>
        </p:spPr>
        <p:txBody>
          <a:bodyPr>
            <a:normAutofit/>
          </a:bodyPr>
          <a:lstStyle/>
          <a:p>
            <a:pPr lvl="1" algn="just"/>
            <a:r>
              <a:rPr lang="en-IN" b="1" dirty="0" err="1" smtClean="0">
                <a:latin typeface="Times New Roman" pitchFamily="18" charset="0"/>
                <a:cs typeface="Times New Roman" pitchFamily="18" charset="0"/>
              </a:rPr>
              <a:t>Patil</a:t>
            </a:r>
            <a:r>
              <a:rPr lang="en-IN" b="1" dirty="0" smtClean="0">
                <a:latin typeface="Times New Roman" pitchFamily="18" charset="0"/>
                <a:cs typeface="Times New Roman" pitchFamily="18" charset="0"/>
              </a:rPr>
              <a:t> </a:t>
            </a:r>
            <a:r>
              <a:rPr lang="en-IN" b="1" dirty="0">
                <a:latin typeface="Times New Roman" pitchFamily="18" charset="0"/>
                <a:cs typeface="Times New Roman" pitchFamily="18" charset="0"/>
              </a:rPr>
              <a:t>et al. (2019</a:t>
            </a:r>
            <a:r>
              <a:rPr lang="en-IN" b="1" dirty="0" smtClean="0">
                <a:latin typeface="Times New Roman" pitchFamily="18" charset="0"/>
                <a:cs typeface="Times New Roman" pitchFamily="18" charset="0"/>
              </a:rPr>
              <a:t>) :</a:t>
            </a:r>
          </a:p>
          <a:p>
            <a:pPr lvl="1" algn="just"/>
            <a:r>
              <a:rPr lang="en-US" dirty="0" smtClean="0">
                <a:latin typeface="Times New Roman" pitchFamily="18" charset="0"/>
                <a:cs typeface="Times New Roman" pitchFamily="18" charset="0"/>
              </a:rPr>
              <a:t>Used </a:t>
            </a:r>
            <a:r>
              <a:rPr lang="en-US" b="1" dirty="0">
                <a:latin typeface="Times New Roman" pitchFamily="18" charset="0"/>
                <a:cs typeface="Times New Roman" pitchFamily="18" charset="0"/>
              </a:rPr>
              <a:t>Decision Tree and Naïve Bayes classifiers</a:t>
            </a:r>
            <a:r>
              <a:rPr lang="en-US" dirty="0">
                <a:latin typeface="Times New Roman" pitchFamily="18" charset="0"/>
                <a:cs typeface="Times New Roman" pitchFamily="18" charset="0"/>
              </a:rPr>
              <a:t> on the CKD dataset to predict kidney disease. The model achieved an accuracy of around </a:t>
            </a:r>
            <a:r>
              <a:rPr lang="en-US" b="1" dirty="0">
                <a:latin typeface="Times New Roman" pitchFamily="18" charset="0"/>
                <a:cs typeface="Times New Roman" pitchFamily="18" charset="0"/>
              </a:rPr>
              <a:t>92%</a:t>
            </a:r>
            <a:r>
              <a:rPr lang="en-US" dirty="0">
                <a:latin typeface="Times New Roman" pitchFamily="18" charset="0"/>
                <a:cs typeface="Times New Roman" pitchFamily="18" charset="0"/>
              </a:rPr>
              <a:t>, but the performance was affected due to </a:t>
            </a:r>
            <a:r>
              <a:rPr lang="en-US" b="1" dirty="0">
                <a:latin typeface="Times New Roman" pitchFamily="18" charset="0"/>
                <a:cs typeface="Times New Roman" pitchFamily="18" charset="0"/>
              </a:rPr>
              <a:t>missing values in the dataset</a:t>
            </a:r>
            <a:r>
              <a:rPr lang="en-US" dirty="0">
                <a:latin typeface="Times New Roman" pitchFamily="18" charset="0"/>
                <a:cs typeface="Times New Roman" pitchFamily="18" charset="0"/>
              </a:rPr>
              <a:t>.</a:t>
            </a:r>
          </a:p>
          <a:p>
            <a:pPr marL="457200" lvl="1" indent="0" algn="just">
              <a:buNone/>
            </a:pPr>
            <a:endParaRPr lang="en-US" dirty="0" smtClean="0">
              <a:latin typeface="Times New Roman" pitchFamily="18" charset="0"/>
              <a:cs typeface="Times New Roman" pitchFamily="18" charset="0"/>
            </a:endParaRPr>
          </a:p>
          <a:p>
            <a:pPr lvl="1" algn="just">
              <a:buNone/>
            </a:pPr>
            <a:r>
              <a:rPr lang="en-US" dirty="0" smtClean="0">
                <a:latin typeface="Times New Roman" pitchFamily="18" charset="0"/>
                <a:cs typeface="Times New Roman" pitchFamily="18" charset="0"/>
              </a:rPr>
              <a:t>• </a:t>
            </a:r>
            <a:r>
              <a:rPr lang="en-IN" b="1" dirty="0" err="1">
                <a:latin typeface="Times New Roman" pitchFamily="18" charset="0"/>
                <a:cs typeface="Times New Roman" pitchFamily="18" charset="0"/>
              </a:rPr>
              <a:t>Gonçalves</a:t>
            </a:r>
            <a:r>
              <a:rPr lang="en-IN" b="1" dirty="0">
                <a:latin typeface="Times New Roman" pitchFamily="18" charset="0"/>
                <a:cs typeface="Times New Roman" pitchFamily="18" charset="0"/>
              </a:rPr>
              <a:t> et al. (2020</a:t>
            </a:r>
            <a:r>
              <a:rPr lang="en-IN" b="1" dirty="0" smtClean="0">
                <a:latin typeface="Times New Roman" pitchFamily="18" charset="0"/>
                <a:cs typeface="Times New Roman" pitchFamily="18" charset="0"/>
              </a:rPr>
              <a:t>) :</a:t>
            </a:r>
          </a:p>
          <a:p>
            <a:pPr lvl="1" algn="just">
              <a:buNone/>
            </a:pPr>
            <a:r>
              <a:rPr lang="en-IN" b="1" dirty="0">
                <a:latin typeface="Times New Roman" pitchFamily="18" charset="0"/>
                <a:cs typeface="Times New Roman" pitchFamily="18" charset="0"/>
              </a:rPr>
              <a:t> </a:t>
            </a:r>
            <a:r>
              <a:rPr lang="en-IN" b="1"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Compared </a:t>
            </a:r>
            <a:r>
              <a:rPr lang="en-US" b="1" dirty="0">
                <a:latin typeface="Times New Roman" pitchFamily="18" charset="0"/>
                <a:cs typeface="Times New Roman" pitchFamily="18" charset="0"/>
              </a:rPr>
              <a:t>Logistic Regression, Random Forest, and Support Vector </a:t>
            </a:r>
            <a:r>
              <a:rPr lang="en-US" b="1" dirty="0" smtClean="0">
                <a:latin typeface="Times New Roman" pitchFamily="18" charset="0"/>
                <a:cs typeface="Times New Roman" pitchFamily="18" charset="0"/>
              </a:rPr>
              <a:t>Machine (SVM</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algorithms for CKD prediction. The </a:t>
            </a:r>
            <a:r>
              <a:rPr lang="en-US" b="1" dirty="0">
                <a:latin typeface="Times New Roman" pitchFamily="18" charset="0"/>
                <a:cs typeface="Times New Roman" pitchFamily="18" charset="0"/>
              </a:rPr>
              <a:t>Random Forest algorithm performed better with approximately 95% accuracy</a:t>
            </a:r>
            <a:r>
              <a:rPr lang="en-US" dirty="0" smtClean="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972927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Proposed System / Work</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fontScale="92500"/>
          </a:bodyPr>
          <a:lstStyle/>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proposed system is a Machine Learning based Chronic Kidney Disease prediction system integrated with a backend API developed using </a:t>
            </a:r>
            <a:r>
              <a:rPr lang="en-US" dirty="0" err="1">
                <a:latin typeface="Times New Roman" pitchFamily="18" charset="0"/>
                <a:cs typeface="Times New Roman" pitchFamily="18" charset="0"/>
              </a:rPr>
              <a:t>FastAPI</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The </a:t>
            </a:r>
            <a:r>
              <a:rPr lang="en-US" dirty="0">
                <a:latin typeface="Times New Roman" pitchFamily="18" charset="0"/>
                <a:cs typeface="Times New Roman" pitchFamily="18" charset="0"/>
              </a:rPr>
              <a:t>system collects patient medical parameters such as </a:t>
            </a:r>
            <a:r>
              <a:rPr lang="en-US" b="1" dirty="0">
                <a:latin typeface="Times New Roman" pitchFamily="18" charset="0"/>
                <a:cs typeface="Times New Roman" pitchFamily="18" charset="0"/>
              </a:rPr>
              <a:t>blood pressure, hemoglobin, blood glucose, serum creatinine, and other health indicators</a:t>
            </a:r>
            <a:r>
              <a:rPr lang="en-US" dirty="0">
                <a:latin typeface="Times New Roman" pitchFamily="18" charset="0"/>
                <a:cs typeface="Times New Roman" pitchFamily="18" charset="0"/>
              </a:rPr>
              <a:t>. These parameters are processed by a </a:t>
            </a:r>
            <a:r>
              <a:rPr lang="en-US" b="1" dirty="0">
                <a:latin typeface="Times New Roman" pitchFamily="18" charset="0"/>
                <a:cs typeface="Times New Roman" pitchFamily="18" charset="0"/>
              </a:rPr>
              <a:t>trained machine learning model</a:t>
            </a:r>
            <a:r>
              <a:rPr lang="en-US" dirty="0">
                <a:latin typeface="Times New Roman" pitchFamily="18" charset="0"/>
                <a:cs typeface="Times New Roman" pitchFamily="18" charset="0"/>
              </a:rPr>
              <a:t> to predict whether a patient is likely to have CKD</a:t>
            </a:r>
            <a:r>
              <a:rPr lang="en-US" dirty="0" smtClean="0">
                <a:latin typeface="Times New Roman" pitchFamily="18" charset="0"/>
                <a:cs typeface="Times New Roman" pitchFamily="18" charset="0"/>
              </a:rPr>
              <a:t>.</a:t>
            </a:r>
          </a:p>
          <a:p>
            <a:pPr algn="just"/>
            <a:r>
              <a:rPr lang="en-US" dirty="0" smtClean="0">
                <a:latin typeface="Times New Roman" pitchFamily="18" charset="0"/>
                <a:cs typeface="Times New Roman" pitchFamily="18" charset="0"/>
              </a:rPr>
              <a:t>The </a:t>
            </a:r>
            <a:r>
              <a:rPr lang="en-US" dirty="0" err="1">
                <a:latin typeface="Times New Roman" pitchFamily="18" charset="0"/>
                <a:cs typeface="Times New Roman" pitchFamily="18" charset="0"/>
              </a:rPr>
              <a:t>FastAPI</a:t>
            </a:r>
            <a:r>
              <a:rPr lang="en-US" dirty="0">
                <a:latin typeface="Times New Roman" pitchFamily="18" charset="0"/>
                <a:cs typeface="Times New Roman" pitchFamily="18" charset="0"/>
              </a:rPr>
              <a:t> backend handles data communication between the user interface and the machine learning model. It receives patient input data, processes the request, and sends the prediction results back to the frontend </a:t>
            </a:r>
            <a:r>
              <a:rPr lang="en-US" dirty="0" smtClean="0">
                <a:latin typeface="Times New Roman" pitchFamily="18" charset="0"/>
                <a:cs typeface="Times New Roman" pitchFamily="18" charset="0"/>
              </a:rPr>
              <a:t>application.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5524770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3E9408-DC3A-2DF7-DEF2-DFF5F620B739}"/>
              </a:ext>
            </a:extLst>
          </p:cNvPr>
          <p:cNvSpPr>
            <a:spLocks noGrp="1"/>
          </p:cNvSpPr>
          <p:nvPr>
            <p:ph type="title"/>
          </p:nvPr>
        </p:nvSpPr>
        <p:spPr/>
        <p:txBody>
          <a:bodyPr/>
          <a:lstStyle/>
          <a:p>
            <a:r>
              <a:rPr lang="en-US" dirty="0">
                <a:solidFill>
                  <a:schemeClr val="accent1"/>
                </a:solidFill>
                <a:latin typeface="Cambria" panose="02040503050406030204" pitchFamily="18" charset="0"/>
                <a:ea typeface="Cambria" panose="02040503050406030204" pitchFamily="18" charset="0"/>
              </a:rPr>
              <a:t>P</a:t>
            </a:r>
            <a:r>
              <a:rPr lang="en-IN" dirty="0">
                <a:solidFill>
                  <a:schemeClr val="accent1"/>
                </a:solidFill>
                <a:latin typeface="Cambria" panose="02040503050406030204" pitchFamily="18" charset="0"/>
                <a:ea typeface="Cambria" panose="02040503050406030204" pitchFamily="18" charset="0"/>
              </a:rPr>
              <a:t>roposed Methods</a:t>
            </a:r>
          </a:p>
        </p:txBody>
      </p:sp>
      <p:sp>
        <p:nvSpPr>
          <p:cNvPr id="3" name="Text Placeholder 2">
            <a:extLst>
              <a:ext uri="{FF2B5EF4-FFF2-40B4-BE49-F238E27FC236}">
                <a16:creationId xmlns="" xmlns:a16="http://schemas.microsoft.com/office/drawing/2014/main" id="{B6FD2D36-2FC6-D90B-40D3-BB3E609E9FD9}"/>
              </a:ext>
            </a:extLst>
          </p:cNvPr>
          <p:cNvSpPr>
            <a:spLocks noGrp="1"/>
          </p:cNvSpPr>
          <p:nvPr>
            <p:ph type="body" idx="1"/>
          </p:nvPr>
        </p:nvSpPr>
        <p:spPr>
          <a:xfrm>
            <a:off x="838200" y="1518249"/>
            <a:ext cx="10515600" cy="4658714"/>
          </a:xfrm>
        </p:spPr>
        <p:txBody>
          <a:bodyPr>
            <a:normAutofit/>
          </a:bodyPr>
          <a:lstStyle/>
          <a:p>
            <a:r>
              <a:rPr lang="en-US" b="1" dirty="0">
                <a:latin typeface="Times New Roman" pitchFamily="18" charset="0"/>
                <a:ea typeface="Cambria" pitchFamily="18" charset="0"/>
                <a:cs typeface="Times New Roman" pitchFamily="18" charset="0"/>
              </a:rPr>
              <a:t>Algorithms Used:</a:t>
            </a:r>
            <a:r>
              <a:rPr lang="en-US" dirty="0">
                <a:latin typeface="Times New Roman" pitchFamily="18" charset="0"/>
                <a:ea typeface="Cambria" pitchFamily="18" charset="0"/>
                <a:cs typeface="Times New Roman" pitchFamily="18" charset="0"/>
              </a:rPr>
              <a:t> </a:t>
            </a:r>
            <a:endParaRPr lang="en-US" dirty="0" smtClean="0">
              <a:latin typeface="Times New Roman" pitchFamily="18" charset="0"/>
              <a:ea typeface="Cambria" pitchFamily="18" charset="0"/>
              <a:cs typeface="Times New Roman" pitchFamily="18" charset="0"/>
            </a:endParaRPr>
          </a:p>
          <a:p>
            <a:pPr lvl="1"/>
            <a:r>
              <a:rPr lang="en-US" b="1" dirty="0" smtClean="0">
                <a:latin typeface="Times New Roman" pitchFamily="18" charset="0"/>
                <a:ea typeface="Cambria" pitchFamily="18" charset="0"/>
                <a:cs typeface="Times New Roman" pitchFamily="18" charset="0"/>
              </a:rPr>
              <a:t>Random Forest </a:t>
            </a:r>
            <a:r>
              <a:rPr lang="en-US" dirty="0" smtClean="0">
                <a:latin typeface="Times New Roman" pitchFamily="18" charset="0"/>
                <a:ea typeface="Cambria" pitchFamily="18" charset="0"/>
                <a:cs typeface="Times New Roman" pitchFamily="18" charset="0"/>
              </a:rPr>
              <a:t>- </a:t>
            </a:r>
            <a:r>
              <a:rPr lang="en-US" sz="2000" dirty="0">
                <a:latin typeface="Times New Roman" pitchFamily="18" charset="0"/>
                <a:cs typeface="Times New Roman" pitchFamily="18" charset="0"/>
              </a:rPr>
              <a:t>Uses multiple decision trees to analyze patient data and predict whether CKD is present or not</a:t>
            </a:r>
            <a:r>
              <a:rPr lang="en-US" dirty="0" smtClean="0">
                <a:latin typeface="Times New Roman" pitchFamily="18" charset="0"/>
                <a:cs typeface="Times New Roman" pitchFamily="18" charset="0"/>
              </a:rPr>
              <a:t>.</a:t>
            </a:r>
          </a:p>
          <a:p>
            <a:pPr lvl="1"/>
            <a:r>
              <a:rPr lang="en-US" b="1" dirty="0" smtClean="0">
                <a:latin typeface="Times New Roman" pitchFamily="18" charset="0"/>
                <a:ea typeface="Cambria" pitchFamily="18" charset="0"/>
                <a:cs typeface="Times New Roman" pitchFamily="18" charset="0"/>
              </a:rPr>
              <a:t>Logistic Regression</a:t>
            </a:r>
            <a:r>
              <a:rPr lang="en-US" b="1" dirty="0">
                <a:latin typeface="Times New Roman" pitchFamily="18" charset="0"/>
                <a:ea typeface="Cambria" pitchFamily="18" charset="0"/>
                <a:cs typeface="Times New Roman" pitchFamily="18" charset="0"/>
              </a:rPr>
              <a:t> </a:t>
            </a:r>
            <a:r>
              <a:rPr lang="en-US" dirty="0" smtClean="0">
                <a:latin typeface="Times New Roman" pitchFamily="18" charset="0"/>
                <a:ea typeface="Cambria" pitchFamily="18" charset="0"/>
                <a:cs typeface="Times New Roman" pitchFamily="18" charset="0"/>
              </a:rPr>
              <a:t>- </a:t>
            </a:r>
            <a:r>
              <a:rPr lang="en-US" sz="2000" dirty="0">
                <a:latin typeface="Times New Roman" pitchFamily="18" charset="0"/>
                <a:cs typeface="Times New Roman" pitchFamily="18" charset="0"/>
              </a:rPr>
              <a:t>A classification algorithm that predicts the probability of a patient having CKD or not.</a:t>
            </a:r>
            <a:endParaRPr lang="en-US" sz="2000" dirty="0" smtClean="0">
              <a:latin typeface="Times New Roman" pitchFamily="18" charset="0"/>
              <a:ea typeface="Cambria" pitchFamily="18" charset="0"/>
              <a:cs typeface="Times New Roman" pitchFamily="18" charset="0"/>
            </a:endParaRPr>
          </a:p>
          <a:p>
            <a:pPr lvl="1"/>
            <a:r>
              <a:rPr lang="en-US" b="1" dirty="0" smtClean="0">
                <a:latin typeface="Times New Roman" pitchFamily="18" charset="0"/>
                <a:ea typeface="Cambria" pitchFamily="18" charset="0"/>
                <a:cs typeface="Times New Roman" pitchFamily="18" charset="0"/>
              </a:rPr>
              <a:t>Neural Networks </a:t>
            </a:r>
            <a:r>
              <a:rPr lang="en-US" dirty="0" smtClean="0">
                <a:latin typeface="Times New Roman" pitchFamily="18" charset="0"/>
                <a:ea typeface="Cambria" pitchFamily="18" charset="0"/>
                <a:cs typeface="Times New Roman" pitchFamily="18" charset="0"/>
              </a:rPr>
              <a:t>- </a:t>
            </a:r>
            <a:r>
              <a:rPr lang="en-US" sz="2000" dirty="0">
                <a:latin typeface="Times New Roman" pitchFamily="18" charset="0"/>
                <a:cs typeface="Times New Roman" pitchFamily="18" charset="0"/>
              </a:rPr>
              <a:t>An AI model that learns complex patterns in medical data to detect CKD.</a:t>
            </a:r>
            <a:endParaRPr lang="en-US" sz="2000" dirty="0">
              <a:latin typeface="Times New Roman" pitchFamily="18" charset="0"/>
              <a:ea typeface="Cambria" pitchFamily="18" charset="0"/>
              <a:cs typeface="Times New Roman" pitchFamily="18" charset="0"/>
            </a:endParaRPr>
          </a:p>
          <a:p>
            <a:pPr lvl="1"/>
            <a:r>
              <a:rPr lang="en-US" b="1" dirty="0" smtClean="0">
                <a:latin typeface="Times New Roman" pitchFamily="18" charset="0"/>
                <a:ea typeface="Cambria" pitchFamily="18" charset="0"/>
                <a:cs typeface="Times New Roman" pitchFamily="18" charset="0"/>
              </a:rPr>
              <a:t>Evaluation </a:t>
            </a:r>
            <a:r>
              <a:rPr lang="en-US" b="1" dirty="0">
                <a:latin typeface="Times New Roman" pitchFamily="18" charset="0"/>
                <a:ea typeface="Cambria" pitchFamily="18" charset="0"/>
                <a:cs typeface="Times New Roman" pitchFamily="18" charset="0"/>
              </a:rPr>
              <a:t>Metrics:</a:t>
            </a:r>
            <a:r>
              <a:rPr lang="en-US" dirty="0">
                <a:latin typeface="Times New Roman" pitchFamily="18" charset="0"/>
                <a:ea typeface="Cambria" pitchFamily="18" charset="0"/>
                <a:cs typeface="Times New Roman" pitchFamily="18" charset="0"/>
              </a:rPr>
              <a:t> Accuracy, Precision, Recall, </a:t>
            </a:r>
            <a:r>
              <a:rPr lang="en-US" dirty="0" smtClean="0">
                <a:latin typeface="Times New Roman" pitchFamily="18" charset="0"/>
                <a:ea typeface="Cambria" pitchFamily="18" charset="0"/>
                <a:cs typeface="Times New Roman" pitchFamily="18" charset="0"/>
              </a:rPr>
              <a:t>F1-score</a:t>
            </a:r>
            <a:r>
              <a:rPr lang="en-US" dirty="0">
                <a:latin typeface="Times New Roman" pitchFamily="18" charset="0"/>
                <a:ea typeface="Cambria" pitchFamily="18" charset="0"/>
                <a:cs typeface="Times New Roman" pitchFamily="18" charset="0"/>
              </a:rPr>
              <a:t>.</a:t>
            </a:r>
          </a:p>
          <a:p>
            <a:endParaRPr lang="en-IN" dirty="0">
              <a:latin typeface="Times New Roman" pitchFamily="18" charset="0"/>
              <a:ea typeface="Cambria" pitchFamily="18" charset="0"/>
              <a:cs typeface="Times New Roman" pitchFamily="18" charset="0"/>
            </a:endParaRPr>
          </a:p>
        </p:txBody>
      </p:sp>
    </p:spTree>
    <p:extLst>
      <p:ext uri="{BB962C8B-B14F-4D97-AF65-F5344CB8AC3E}">
        <p14:creationId xmlns:p14="http://schemas.microsoft.com/office/powerpoint/2010/main" val="2990522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a:buNone/>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Chronic Kidney Disease (CKD) is a serious health condition that often develops without clear symptoms in the early stages. Early detection is important to prevent severe complications and improve treatment. However, traditional diagnosis methods require manual analysis of patient medical reports, which can be time-consuming. Therefore, an automated system is required to analyze patient health data and predict CKD efficiently using machine learning techniques.</a:t>
            </a:r>
            <a:endParaRPr lang="en-US"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4505980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1(</a:t>
            </a:r>
            <a:r>
              <a:rPr lang="en-US" sz="3200" b="1" dirty="0">
                <a:solidFill>
                  <a:schemeClr val="accent1">
                    <a:lumMod val="75000"/>
                  </a:schemeClr>
                </a:solidFill>
                <a:latin typeface="Calibri"/>
              </a:rPr>
              <a:t>Understand what CKD </a:t>
            </a:r>
            <a:r>
              <a:rPr lang="en-US" sz="3200" b="1" dirty="0" smtClean="0">
                <a:solidFill>
                  <a:schemeClr val="accent1">
                    <a:lumMod val="75000"/>
                  </a:schemeClr>
                </a:solidFill>
                <a:latin typeface="Calibri"/>
              </a:rPr>
              <a:t>is??)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a:bodyPr>
          <a:lstStyle/>
          <a:p>
            <a:pPr marL="0" indent="0">
              <a:buNone/>
            </a:pPr>
            <a:r>
              <a:rPr lang="en-US" sz="1800" b="1" dirty="0" smtClean="0">
                <a:latin typeface="Times New Roman" panose="02020603050405020304" pitchFamily="18" charset="0"/>
                <a:cs typeface="Times New Roman" panose="02020603050405020304" pitchFamily="18" charset="0"/>
              </a:rPr>
              <a:t>About CKD:</a:t>
            </a: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CKD</a:t>
            </a:r>
            <a:r>
              <a:rPr lang="en-US" sz="1800" dirty="0"/>
              <a:t> </a:t>
            </a:r>
            <a:r>
              <a:rPr lang="en-US" sz="1800" dirty="0">
                <a:latin typeface="Times New Roman" panose="02020603050405020304" pitchFamily="18" charset="0"/>
                <a:cs typeface="Times New Roman" panose="02020603050405020304" pitchFamily="18" charset="0"/>
              </a:rPr>
              <a:t>stands for Chronic Kidney Disease. </a:t>
            </a:r>
          </a:p>
          <a:p>
            <a:r>
              <a:rPr lang="en-US" sz="1800" dirty="0">
                <a:latin typeface="Times New Roman" panose="02020603050405020304" pitchFamily="18" charset="0"/>
                <a:cs typeface="Times New Roman" panose="02020603050405020304" pitchFamily="18" charset="0"/>
              </a:rPr>
              <a:t>It is a condition where the kidneys gradually lose their ability to function. </a:t>
            </a:r>
          </a:p>
          <a:p>
            <a:r>
              <a:rPr lang="en-US" sz="1800" dirty="0">
                <a:latin typeface="Times New Roman" panose="02020603050405020304" pitchFamily="18" charset="0"/>
                <a:cs typeface="Times New Roman" panose="02020603050405020304" pitchFamily="18" charset="0"/>
              </a:rPr>
              <a:t>Many patients are unaware of CKD in the early stages.</a:t>
            </a:r>
          </a:p>
          <a:p>
            <a:pPr marL="0" indent="0">
              <a:buNone/>
            </a:pPr>
            <a:r>
              <a:rPr lang="en-US" sz="1800" b="1" dirty="0" smtClean="0">
                <a:latin typeface="Times New Roman" panose="02020603050405020304" pitchFamily="18" charset="0"/>
                <a:cs typeface="Times New Roman" panose="02020603050405020304" pitchFamily="18" charset="0"/>
              </a:rPr>
              <a:t>What I Did:</a:t>
            </a: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Studied CKD and understood how kidney function declines over time. </a:t>
            </a:r>
          </a:p>
          <a:p>
            <a:r>
              <a:rPr lang="en-US" sz="1800" dirty="0">
                <a:latin typeface="Times New Roman" panose="02020603050405020304" pitchFamily="18" charset="0"/>
                <a:cs typeface="Times New Roman" panose="02020603050405020304" pitchFamily="18" charset="0"/>
              </a:rPr>
              <a:t>Observed that CKD often has no early symptoms, leading to late diagnosis. </a:t>
            </a:r>
          </a:p>
          <a:p>
            <a:r>
              <a:rPr lang="en-US" sz="1800" dirty="0">
                <a:latin typeface="Times New Roman" panose="02020603050405020304" pitchFamily="18" charset="0"/>
                <a:cs typeface="Times New Roman" panose="02020603050405020304" pitchFamily="18" charset="0"/>
              </a:rPr>
              <a:t>Reviewed 5–6 research papers on CKD prediction. </a:t>
            </a:r>
          </a:p>
          <a:p>
            <a:r>
              <a:rPr lang="en-US" sz="1800" dirty="0">
                <a:latin typeface="Times New Roman" panose="02020603050405020304" pitchFamily="18" charset="0"/>
                <a:cs typeface="Times New Roman" panose="02020603050405020304" pitchFamily="18" charset="0"/>
              </a:rPr>
              <a:t>Analyzed which algorithms provided the best accuracy. </a:t>
            </a:r>
          </a:p>
          <a:p>
            <a:r>
              <a:rPr lang="en-US" sz="1800" dirty="0">
                <a:latin typeface="Times New Roman" panose="02020603050405020304" pitchFamily="18" charset="0"/>
                <a:cs typeface="Times New Roman" panose="02020603050405020304" pitchFamily="18" charset="0"/>
              </a:rPr>
              <a:t>Identified a key gap: most studies focus on models but do not develop real-world applications.</a:t>
            </a:r>
          </a:p>
          <a:p>
            <a:pPr marL="0" indent="0">
              <a:spcAft>
                <a:spcPts val="400"/>
              </a:spcAft>
              <a:buNone/>
            </a:pPr>
            <a:endParaRPr lang="en-US" sz="1800" dirty="0" smtClean="0">
              <a:solidFill>
                <a:srgbClr val="222222"/>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Tree>
    <p:extLst>
      <p:ext uri="{BB962C8B-B14F-4D97-AF65-F5344CB8AC3E}">
        <p14:creationId xmlns:p14="http://schemas.microsoft.com/office/powerpoint/2010/main" val="3200334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2(</a:t>
            </a:r>
            <a:r>
              <a:rPr lang="en-US" sz="3200" b="1" dirty="0">
                <a:solidFill>
                  <a:schemeClr val="accent1">
                    <a:lumMod val="75000"/>
                  </a:schemeClr>
                </a:solidFill>
                <a:latin typeface="Calibri"/>
              </a:rPr>
              <a:t>Decide exactly what the system will do</a:t>
            </a:r>
            <a:r>
              <a:rPr lang="en-US" sz="3200" b="1" dirty="0" smtClean="0">
                <a:solidFill>
                  <a:srgbClr val="222222"/>
                </a:solidFill>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
        <p:nvSpPr>
          <p:cNvPr id="5" name="Rectangle 1"/>
          <p:cNvSpPr>
            <a:spLocks noGrp="1" noChangeArrowheads="1"/>
          </p:cNvSpPr>
          <p:nvPr>
            <p:ph idx="1"/>
          </p:nvPr>
        </p:nvSpPr>
        <p:spPr bwMode="auto">
          <a:xfrm>
            <a:off x="931652" y="1715537"/>
            <a:ext cx="10263089"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Defined user requirements for CKD prediction. </a:t>
            </a:r>
          </a:p>
          <a:p>
            <a:pPr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Designed system with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Frontend (React), Backend (</a:t>
            </a:r>
            <a:r>
              <a:rPr kumimoji="0" lang="en-US" sz="20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FastAPI</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Database (SQLite)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a:spcAft>
                <a:spcPts val="400"/>
              </a:spcAft>
            </a:pPr>
            <a:r>
              <a:rPr lang="en-US" sz="2000" dirty="0">
                <a:solidFill>
                  <a:srgbClr val="222222"/>
                </a:solidFill>
                <a:latin typeface="Times New Roman" panose="02020603050405020304" pitchFamily="18" charset="0"/>
                <a:cs typeface="Times New Roman" panose="02020603050405020304" pitchFamily="18" charset="0"/>
              </a:rPr>
              <a:t>Website (frontend) → made with React. This is what the user sees.</a:t>
            </a:r>
          </a:p>
          <a:p>
            <a:pPr>
              <a:spcAft>
                <a:spcPts val="400"/>
              </a:spcAft>
            </a:pPr>
            <a:r>
              <a:rPr lang="en-US" sz="2000" dirty="0" smtClean="0">
                <a:solidFill>
                  <a:srgbClr val="222222"/>
                </a:solidFill>
                <a:latin typeface="Times New Roman" panose="02020603050405020304" pitchFamily="18" charset="0"/>
                <a:cs typeface="Times New Roman" panose="02020603050405020304" pitchFamily="18" charset="0"/>
              </a:rPr>
              <a:t> Server </a:t>
            </a:r>
            <a:r>
              <a:rPr lang="en-US" sz="2000" dirty="0">
                <a:solidFill>
                  <a:srgbClr val="222222"/>
                </a:solidFill>
                <a:latin typeface="Times New Roman" panose="02020603050405020304" pitchFamily="18" charset="0"/>
                <a:cs typeface="Times New Roman" panose="02020603050405020304" pitchFamily="18" charset="0"/>
              </a:rPr>
              <a:t>(backend) → made with </a:t>
            </a:r>
            <a:r>
              <a:rPr lang="en-US" sz="2000" dirty="0" err="1">
                <a:solidFill>
                  <a:srgbClr val="222222"/>
                </a:solidFill>
                <a:latin typeface="Times New Roman" panose="02020603050405020304" pitchFamily="18" charset="0"/>
                <a:cs typeface="Times New Roman" panose="02020603050405020304" pitchFamily="18" charset="0"/>
              </a:rPr>
              <a:t>FastAPI</a:t>
            </a:r>
            <a:r>
              <a:rPr lang="en-US" sz="2000" dirty="0">
                <a:solidFill>
                  <a:srgbClr val="222222"/>
                </a:solidFill>
                <a:latin typeface="Times New Roman" panose="02020603050405020304" pitchFamily="18" charset="0"/>
                <a:cs typeface="Times New Roman" panose="02020603050405020304" pitchFamily="18" charset="0"/>
              </a:rPr>
              <a:t>. This handles the logic.</a:t>
            </a:r>
          </a:p>
          <a:p>
            <a:pPr>
              <a:spcAft>
                <a:spcPts val="400"/>
              </a:spcAft>
            </a:pPr>
            <a:r>
              <a:rPr lang="en-US" sz="2000" dirty="0" smtClean="0">
                <a:solidFill>
                  <a:srgbClr val="222222"/>
                </a:solidFill>
                <a:latin typeface="Times New Roman" panose="02020603050405020304" pitchFamily="18" charset="0"/>
                <a:cs typeface="Times New Roman" panose="02020603050405020304" pitchFamily="18" charset="0"/>
              </a:rPr>
              <a:t> </a:t>
            </a:r>
            <a:r>
              <a:rPr lang="en-US" sz="2000" dirty="0">
                <a:solidFill>
                  <a:srgbClr val="222222"/>
                </a:solidFill>
                <a:latin typeface="Times New Roman" panose="02020603050405020304" pitchFamily="18" charset="0"/>
                <a:cs typeface="Times New Roman" panose="02020603050405020304" pitchFamily="18" charset="0"/>
              </a:rPr>
              <a:t>Database (SQLite) → stores every prediction the user makes.</a:t>
            </a:r>
          </a:p>
          <a:p>
            <a:pPr eaLnBrk="0" fontAlgn="base" hangingPunct="0">
              <a:lnSpc>
                <a:spcPct val="100000"/>
              </a:lnSpc>
              <a:spcBef>
                <a:spcPct val="0"/>
              </a:spcBef>
              <a:spcAft>
                <a:spcPct val="0"/>
              </a:spcAft>
            </a:pP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Built screens: Home, Form, Results, History, Dashboard. </a:t>
            </a:r>
          </a:p>
          <a:p>
            <a:pPr eaLnBrk="0" fontAlgn="base" hangingPunct="0">
              <a:lnSpc>
                <a:spcPct val="100000"/>
              </a:lnSpc>
              <a:spcBef>
                <a:spcPct val="0"/>
              </a:spcBef>
              <a:spcAft>
                <a:spcPct val="0"/>
              </a:spcAft>
            </a:pP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Stored results with details (id, time, prediction, confidence). </a:t>
            </a:r>
          </a:p>
          <a:p>
            <a:pPr eaLnBrk="0" fontAlgn="base" hangingPunct="0">
              <a:lnSpc>
                <a:spcPct val="100000"/>
              </a:lnSpc>
              <a:spcBef>
                <a:spcPct val="0"/>
              </a:spcBef>
              <a:spcAft>
                <a:spcPct val="0"/>
              </a:spcAf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 Flow:</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User enters data → sent to backend → model predicts → result stored &amp; shown. </a:t>
            </a:r>
          </a:p>
        </p:txBody>
      </p:sp>
    </p:spTree>
    <p:extLst>
      <p:ext uri="{BB962C8B-B14F-4D97-AF65-F5344CB8AC3E}">
        <p14:creationId xmlns:p14="http://schemas.microsoft.com/office/powerpoint/2010/main" val="68220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3(</a:t>
            </a:r>
            <a:r>
              <a:rPr lang="en-US" sz="3200" b="1" dirty="0">
                <a:solidFill>
                  <a:schemeClr val="accent1">
                    <a:lumMod val="75000"/>
                  </a:schemeClr>
                </a:solidFill>
                <a:latin typeface="Calibri"/>
              </a:rPr>
              <a:t>Get real patient data and carefully </a:t>
            </a:r>
            <a:r>
              <a:rPr lang="en-US" sz="3200" b="1" dirty="0" smtClean="0">
                <a:solidFill>
                  <a:schemeClr val="accent1">
                    <a:lumMod val="75000"/>
                  </a:schemeClr>
                </a:solidFill>
                <a:latin typeface="Calibri"/>
              </a:rPr>
              <a:t>study)</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500" dirty="0">
                <a:solidFill>
                  <a:srgbClr val="222222"/>
                </a:solidFill>
              </a:rPr>
              <a:t>• </a:t>
            </a:r>
            <a:r>
              <a:rPr lang="en-US" sz="2500" dirty="0" smtClean="0">
                <a:solidFill>
                  <a:srgbClr val="222222"/>
                </a:solidFill>
              </a:rPr>
              <a:t> Downloaded </a:t>
            </a:r>
            <a:r>
              <a:rPr lang="en-US" sz="2500" dirty="0">
                <a:solidFill>
                  <a:srgbClr val="222222"/>
                </a:solidFill>
              </a:rPr>
              <a:t>the UCI Chronic Kidney Disease </a:t>
            </a:r>
            <a:r>
              <a:rPr lang="en-US" sz="2500" dirty="0" smtClean="0">
                <a:solidFill>
                  <a:srgbClr val="222222"/>
                </a:solidFill>
              </a:rPr>
              <a:t>dataset</a:t>
            </a:r>
            <a:r>
              <a:rPr lang="en-US" sz="2500" dirty="0" smtClean="0">
                <a:solidFill>
                  <a:srgbClr val="212121"/>
                </a:solidFill>
              </a:rPr>
              <a:t>(</a:t>
            </a:r>
            <a:r>
              <a:rPr lang="en-US" sz="2500" dirty="0">
                <a:solidFill>
                  <a:srgbClr val="212121"/>
                </a:solidFill>
              </a:rPr>
              <a:t>'kidney_disease.csv</a:t>
            </a:r>
            <a:r>
              <a:rPr lang="en-US" sz="2500" dirty="0" smtClean="0">
                <a:solidFill>
                  <a:srgbClr val="212121"/>
                </a:solidFill>
              </a:rPr>
              <a:t>').</a:t>
            </a:r>
            <a:endParaRPr lang="en-US" sz="2500" dirty="0">
              <a:solidFill>
                <a:srgbClr val="222222"/>
              </a:solidFill>
            </a:endParaRPr>
          </a:p>
          <a:p>
            <a:pPr marL="0" indent="0">
              <a:spcAft>
                <a:spcPts val="400"/>
              </a:spcAft>
              <a:buNone/>
            </a:pPr>
            <a:r>
              <a:rPr lang="en-US" sz="2500" dirty="0">
                <a:solidFill>
                  <a:srgbClr val="222222"/>
                </a:solidFill>
              </a:rPr>
              <a:t>•  This dataset has 400 patient records</a:t>
            </a:r>
            <a:r>
              <a:rPr lang="en-US" sz="2500" dirty="0" smtClean="0">
                <a:solidFill>
                  <a:srgbClr val="222222"/>
                </a:solidFill>
              </a:rPr>
              <a:t>.</a:t>
            </a:r>
          </a:p>
          <a:p>
            <a:pPr marL="0" indent="0">
              <a:spcAft>
                <a:spcPts val="400"/>
              </a:spcAft>
              <a:buNone/>
            </a:pPr>
            <a:r>
              <a:rPr lang="en-US" sz="2500" dirty="0" smtClean="0">
                <a:solidFill>
                  <a:srgbClr val="222222"/>
                </a:solidFill>
              </a:rPr>
              <a:t>•  </a:t>
            </a:r>
            <a:r>
              <a:rPr lang="en-US" sz="2500" dirty="0">
                <a:solidFill>
                  <a:srgbClr val="222222"/>
                </a:solidFill>
              </a:rPr>
              <a:t>Each record has 24 medical tests + 1 final result (</a:t>
            </a:r>
            <a:r>
              <a:rPr lang="en-US" sz="2500" dirty="0" err="1">
                <a:solidFill>
                  <a:srgbClr val="222222"/>
                </a:solidFill>
              </a:rPr>
              <a:t>ckd</a:t>
            </a:r>
            <a:r>
              <a:rPr lang="en-US" sz="2500" dirty="0">
                <a:solidFill>
                  <a:srgbClr val="222222"/>
                </a:solidFill>
              </a:rPr>
              <a:t> or </a:t>
            </a:r>
            <a:r>
              <a:rPr lang="en-US" sz="2500" dirty="0" err="1">
                <a:solidFill>
                  <a:srgbClr val="222222"/>
                </a:solidFill>
              </a:rPr>
              <a:t>notckd</a:t>
            </a:r>
            <a:r>
              <a:rPr lang="en-US" sz="2500" dirty="0">
                <a:solidFill>
                  <a:srgbClr val="222222"/>
                </a:solidFill>
              </a:rPr>
              <a:t>).</a:t>
            </a:r>
          </a:p>
          <a:p>
            <a:pPr marL="0" indent="0">
              <a:spcAft>
                <a:spcPts val="400"/>
              </a:spcAft>
              <a:buNone/>
            </a:pPr>
            <a:r>
              <a:rPr lang="en-US" sz="2500" dirty="0">
                <a:solidFill>
                  <a:srgbClr val="222222"/>
                </a:solidFill>
              </a:rPr>
              <a:t>•  Example tests: age, blood pressure, sugar, hemoglobin, creatinine, etc.</a:t>
            </a:r>
          </a:p>
          <a:p>
            <a:pPr marL="0" indent="0">
              <a:spcAft>
                <a:spcPts val="400"/>
              </a:spcAft>
              <a:buNone/>
            </a:pPr>
            <a:r>
              <a:rPr lang="en-US" sz="2500" dirty="0">
                <a:solidFill>
                  <a:srgbClr val="222222"/>
                </a:solidFill>
              </a:rPr>
              <a:t>•  We saved this file as kidney_disease.csv inside backend/data/ folder.</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Tree>
    <p:extLst>
      <p:ext uri="{BB962C8B-B14F-4D97-AF65-F5344CB8AC3E}">
        <p14:creationId xmlns:p14="http://schemas.microsoft.com/office/powerpoint/2010/main" val="16552275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4(</a:t>
            </a:r>
            <a:r>
              <a:rPr lang="en-US" sz="3200" b="1" dirty="0">
                <a:solidFill>
                  <a:schemeClr val="accent1">
                    <a:lumMod val="75000"/>
                  </a:schemeClr>
                </a:solidFill>
                <a:latin typeface="Calibri"/>
              </a:rPr>
              <a:t>Convert raw messy data into clean numeric values </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500" b="1" dirty="0">
                <a:solidFill>
                  <a:srgbClr val="212121"/>
                </a:solidFill>
              </a:rPr>
              <a:t>File responsible: </a:t>
            </a:r>
            <a:r>
              <a:rPr lang="en-US" sz="2500" b="1" dirty="0" smtClean="0">
                <a:solidFill>
                  <a:srgbClr val="212121"/>
                </a:solidFill>
              </a:rPr>
              <a:t>data_preprocessing.py</a:t>
            </a:r>
          </a:p>
          <a:p>
            <a:pPr marL="0" indent="0">
              <a:spcAft>
                <a:spcPts val="400"/>
              </a:spcAft>
              <a:buNone/>
            </a:pPr>
            <a:endParaRPr lang="en-US" sz="2500" b="1" dirty="0">
              <a:solidFill>
                <a:srgbClr val="212121"/>
              </a:solidFill>
            </a:endParaRPr>
          </a:p>
          <a:p>
            <a:pPr marL="0" indent="0">
              <a:spcBef>
                <a:spcPts val="200"/>
              </a:spcBef>
              <a:buNone/>
            </a:pPr>
            <a:r>
              <a:rPr lang="en-US" sz="2500" dirty="0">
                <a:solidFill>
                  <a:srgbClr val="212121"/>
                </a:solidFill>
              </a:rPr>
              <a:t>• Replaced '?' with </a:t>
            </a:r>
            <a:r>
              <a:rPr lang="en-US" sz="2500" dirty="0" err="1">
                <a:solidFill>
                  <a:srgbClr val="212121"/>
                </a:solidFill>
              </a:rPr>
              <a:t>NaN</a:t>
            </a:r>
            <a:r>
              <a:rPr lang="en-US" sz="2500" dirty="0">
                <a:solidFill>
                  <a:srgbClr val="212121"/>
                </a:solidFill>
              </a:rPr>
              <a:t> and dropped rows with missing values.</a:t>
            </a:r>
          </a:p>
          <a:p>
            <a:pPr marL="0" indent="0">
              <a:spcBef>
                <a:spcPts val="200"/>
              </a:spcBef>
              <a:buNone/>
            </a:pPr>
            <a:r>
              <a:rPr lang="en-US" sz="2500" dirty="0">
                <a:solidFill>
                  <a:srgbClr val="212121"/>
                </a:solidFill>
              </a:rPr>
              <a:t>• Converted target column 'classification' → 1 for </a:t>
            </a:r>
            <a:r>
              <a:rPr lang="en-US" sz="2500" dirty="0" err="1">
                <a:solidFill>
                  <a:srgbClr val="212121"/>
                </a:solidFill>
              </a:rPr>
              <a:t>ckd</a:t>
            </a:r>
            <a:r>
              <a:rPr lang="en-US" sz="2500" dirty="0">
                <a:solidFill>
                  <a:srgbClr val="212121"/>
                </a:solidFill>
              </a:rPr>
              <a:t>, 0 for </a:t>
            </a:r>
            <a:r>
              <a:rPr lang="en-US" sz="2500" dirty="0" err="1">
                <a:solidFill>
                  <a:srgbClr val="212121"/>
                </a:solidFill>
              </a:rPr>
              <a:t>notckd</a:t>
            </a:r>
            <a:r>
              <a:rPr lang="en-US" sz="2500" dirty="0">
                <a:solidFill>
                  <a:srgbClr val="212121"/>
                </a:solidFill>
              </a:rPr>
              <a:t>.</a:t>
            </a:r>
          </a:p>
          <a:p>
            <a:pPr marL="0" indent="0">
              <a:spcBef>
                <a:spcPts val="200"/>
              </a:spcBef>
              <a:buNone/>
            </a:pPr>
            <a:r>
              <a:rPr lang="en-US" sz="2500" dirty="0">
                <a:solidFill>
                  <a:srgbClr val="212121"/>
                </a:solidFill>
              </a:rPr>
              <a:t>• Converted numeric columns stored as text back to numbers.</a:t>
            </a:r>
          </a:p>
          <a:p>
            <a:pPr marL="0" indent="0">
              <a:spcBef>
                <a:spcPts val="200"/>
              </a:spcBef>
              <a:buNone/>
            </a:pPr>
            <a:r>
              <a:rPr lang="en-US" sz="2500" dirty="0">
                <a:solidFill>
                  <a:srgbClr val="212121"/>
                </a:solidFill>
              </a:rPr>
              <a:t>• Converted text columns (yes/no, normal/abnormal) into 0/1 dummy columns.</a:t>
            </a:r>
          </a:p>
          <a:p>
            <a:pPr marL="0" indent="0">
              <a:spcBef>
                <a:spcPts val="200"/>
              </a:spcBef>
              <a:buNone/>
            </a:pPr>
            <a:r>
              <a:rPr lang="en-US" sz="2500" dirty="0">
                <a:solidFill>
                  <a:srgbClr val="212121"/>
                </a:solidFill>
              </a:rPr>
              <a:t>• Scaled all features using </a:t>
            </a:r>
            <a:r>
              <a:rPr lang="en-US" sz="2500" dirty="0" err="1">
                <a:solidFill>
                  <a:srgbClr val="212121"/>
                </a:solidFill>
              </a:rPr>
              <a:t>StandardScaler</a:t>
            </a:r>
            <a:r>
              <a:rPr lang="en-US" sz="2500" dirty="0">
                <a:solidFill>
                  <a:srgbClr val="212121"/>
                </a:solidFill>
              </a:rPr>
              <a:t> (mean 0, </a:t>
            </a:r>
            <a:r>
              <a:rPr lang="en-US" sz="2500" dirty="0" err="1">
                <a:solidFill>
                  <a:srgbClr val="212121"/>
                </a:solidFill>
              </a:rPr>
              <a:t>std</a:t>
            </a:r>
            <a:r>
              <a:rPr lang="en-US" sz="2500" dirty="0">
                <a:solidFill>
                  <a:srgbClr val="212121"/>
                </a:solidFill>
              </a:rPr>
              <a:t> 1).</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spTree>
    <p:extLst>
      <p:ext uri="{BB962C8B-B14F-4D97-AF65-F5344CB8AC3E}">
        <p14:creationId xmlns:p14="http://schemas.microsoft.com/office/powerpoint/2010/main" val="5368614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5(</a:t>
            </a:r>
            <a:r>
              <a:rPr lang="en-US" sz="3200" b="1" dirty="0">
                <a:solidFill>
                  <a:schemeClr val="accent1">
                    <a:lumMod val="75000"/>
                  </a:schemeClr>
                </a:solidFill>
                <a:latin typeface="Times New Roman" panose="02020603050405020304" pitchFamily="18" charset="0"/>
                <a:cs typeface="Times New Roman" panose="02020603050405020304" pitchFamily="18" charset="0"/>
              </a:rPr>
              <a:t>To train a computer model that can learn the pattern of </a:t>
            </a:r>
            <a:r>
              <a:rPr lang="en-US" sz="3200" b="1" dirty="0" smtClean="0">
                <a:solidFill>
                  <a:schemeClr val="accent1">
                    <a:lumMod val="75000"/>
                  </a:schemeClr>
                </a:solidFill>
                <a:latin typeface="Times New Roman" panose="02020603050405020304" pitchFamily="18" charset="0"/>
                <a:cs typeface="Times New Roman" panose="02020603050405020304" pitchFamily="18" charset="0"/>
              </a:rPr>
              <a:t>CKD</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500" b="1" dirty="0" smtClean="0">
                <a:solidFill>
                  <a:srgbClr val="212121"/>
                </a:solidFill>
              </a:rPr>
              <a:t>File </a:t>
            </a:r>
            <a:r>
              <a:rPr lang="en-US" sz="2500" b="1" dirty="0">
                <a:solidFill>
                  <a:srgbClr val="212121"/>
                </a:solidFill>
              </a:rPr>
              <a:t>responsible: </a:t>
            </a:r>
            <a:r>
              <a:rPr lang="en-US" sz="2500" b="1" dirty="0" smtClean="0">
                <a:solidFill>
                  <a:srgbClr val="212121"/>
                </a:solidFill>
              </a:rPr>
              <a:t>ml_model.py</a:t>
            </a:r>
            <a:endParaRPr lang="en-US" sz="2500" dirty="0" smtClean="0">
              <a:solidFill>
                <a:srgbClr val="222222"/>
              </a:solidFill>
            </a:endParaRPr>
          </a:p>
          <a:p>
            <a:pPr>
              <a:spcAft>
                <a:spcPts val="400"/>
              </a:spcAft>
            </a:pPr>
            <a:r>
              <a:rPr lang="en-US" sz="2500" dirty="0" smtClean="0">
                <a:solidFill>
                  <a:srgbClr val="222222"/>
                </a:solidFill>
              </a:rPr>
              <a:t>   We </a:t>
            </a:r>
            <a:r>
              <a:rPr lang="en-US" sz="2500" dirty="0">
                <a:solidFill>
                  <a:srgbClr val="222222"/>
                </a:solidFill>
              </a:rPr>
              <a:t>used the Random Forest </a:t>
            </a:r>
            <a:r>
              <a:rPr lang="en-US" sz="2500" dirty="0" smtClean="0">
                <a:solidFill>
                  <a:srgbClr val="222222"/>
                </a:solidFill>
              </a:rPr>
              <a:t>algorithm.</a:t>
            </a:r>
          </a:p>
          <a:p>
            <a:pPr>
              <a:spcAft>
                <a:spcPts val="400"/>
              </a:spcAft>
            </a:pPr>
            <a:r>
              <a:rPr lang="en-US" sz="2500" dirty="0" smtClean="0">
                <a:solidFill>
                  <a:srgbClr val="222222"/>
                </a:solidFill>
              </a:rPr>
              <a:t>  A Random Forest is a group of many Decision Trees working together.</a:t>
            </a:r>
          </a:p>
          <a:p>
            <a:pPr>
              <a:spcAft>
                <a:spcPts val="400"/>
              </a:spcAft>
            </a:pPr>
            <a:r>
              <a:rPr lang="en-US" sz="2500" dirty="0" smtClean="0">
                <a:solidFill>
                  <a:srgbClr val="222222"/>
                </a:solidFill>
              </a:rPr>
              <a:t>  </a:t>
            </a:r>
            <a:r>
              <a:rPr lang="en-US" sz="2500" dirty="0">
                <a:solidFill>
                  <a:srgbClr val="222222"/>
                </a:solidFill>
              </a:rPr>
              <a:t>Each tree gives a vote (CKD or No CKD), and the majority wins.</a:t>
            </a:r>
          </a:p>
          <a:p>
            <a:pPr>
              <a:spcAft>
                <a:spcPts val="400"/>
              </a:spcAft>
            </a:pPr>
            <a:r>
              <a:rPr lang="en-US" sz="2500" dirty="0" smtClean="0">
                <a:solidFill>
                  <a:srgbClr val="222222"/>
                </a:solidFill>
              </a:rPr>
              <a:t>  </a:t>
            </a:r>
            <a:r>
              <a:rPr lang="en-US" sz="2500" dirty="0">
                <a:solidFill>
                  <a:srgbClr val="222222"/>
                </a:solidFill>
              </a:rPr>
              <a:t>This method is more accurate than a single decision tree</a:t>
            </a:r>
            <a:r>
              <a:rPr lang="en-US" sz="2500" dirty="0" smtClean="0">
                <a:solidFill>
                  <a:srgbClr val="222222"/>
                </a:solidFill>
              </a:rPr>
              <a:t>.</a:t>
            </a:r>
            <a:endParaRPr lang="en-US" sz="2500" dirty="0">
              <a:solidFill>
                <a:srgbClr val="222222"/>
              </a:solidFill>
            </a:endParaRPr>
          </a:p>
          <a:p>
            <a:pPr>
              <a:spcAft>
                <a:spcPts val="400"/>
              </a:spcAft>
            </a:pPr>
            <a:r>
              <a:rPr lang="en-US" sz="2500" dirty="0" smtClean="0">
                <a:solidFill>
                  <a:srgbClr val="222222"/>
                </a:solidFill>
              </a:rPr>
              <a:t>  </a:t>
            </a:r>
            <a:r>
              <a:rPr lang="en-US" sz="2500" dirty="0">
                <a:solidFill>
                  <a:srgbClr val="222222"/>
                </a:solidFill>
              </a:rPr>
              <a:t>We built the full training logic in ml_model.py.</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8706539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6(</a:t>
            </a:r>
            <a:r>
              <a:rPr lang="en-US" sz="3200" b="1" dirty="0">
                <a:solidFill>
                  <a:schemeClr val="accent1">
                    <a:lumMod val="75000"/>
                  </a:schemeClr>
                </a:solidFill>
                <a:latin typeface="Times New Roman" panose="02020603050405020304" pitchFamily="18" charset="0"/>
                <a:cs typeface="Times New Roman" panose="02020603050405020304" pitchFamily="18" charset="0"/>
              </a:rPr>
              <a:t>Measure real performance and save the metrics for the dashboard</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fontScale="92500" lnSpcReduction="10000"/>
          </a:bodyPr>
          <a:lstStyle/>
          <a:p>
            <a:pPr>
              <a:spcBef>
                <a:spcPts val="200"/>
              </a:spcBef>
            </a:pPr>
            <a:r>
              <a:rPr lang="en-US" sz="1600" dirty="0" smtClean="0">
                <a:solidFill>
                  <a:srgbClr val="212121"/>
                </a:solidFill>
                <a:latin typeface="Times New Roman" panose="02020603050405020304" pitchFamily="18" charset="0"/>
                <a:cs typeface="Times New Roman" panose="02020603050405020304" pitchFamily="18" charset="0"/>
              </a:rPr>
              <a:t> </a:t>
            </a:r>
            <a:r>
              <a:rPr lang="en-US" sz="2000" dirty="0" smtClean="0">
                <a:solidFill>
                  <a:srgbClr val="212121"/>
                </a:solidFill>
                <a:latin typeface="Times New Roman" panose="02020603050405020304" pitchFamily="18" charset="0"/>
                <a:cs typeface="Times New Roman" panose="02020603050405020304" pitchFamily="18" charset="0"/>
              </a:rPr>
              <a:t>Computed </a:t>
            </a:r>
            <a:r>
              <a:rPr lang="en-US" sz="2000" dirty="0">
                <a:solidFill>
                  <a:srgbClr val="212121"/>
                </a:solidFill>
                <a:latin typeface="Times New Roman" panose="02020603050405020304" pitchFamily="18" charset="0"/>
                <a:cs typeface="Times New Roman" panose="02020603050405020304" pitchFamily="18" charset="0"/>
              </a:rPr>
              <a:t>4 key metrics: Accuracy, Precision, Recall, F1-Score</a:t>
            </a:r>
            <a:r>
              <a:rPr lang="en-US" sz="2000" dirty="0" smtClean="0">
                <a:solidFill>
                  <a:srgbClr val="212121"/>
                </a:solidFill>
                <a:latin typeface="Times New Roman" panose="02020603050405020304" pitchFamily="18" charset="0"/>
                <a:cs typeface="Times New Roman" panose="02020603050405020304" pitchFamily="18" charset="0"/>
              </a:rPr>
              <a:t>.</a:t>
            </a:r>
          </a:p>
          <a:p>
            <a:pPr>
              <a:spcBef>
                <a:spcPts val="200"/>
              </a:spcBef>
            </a:pPr>
            <a:r>
              <a:rPr lang="en-US" sz="2000" dirty="0" smtClean="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Extracted 'feature importance' — which medical values matter most.</a:t>
            </a:r>
          </a:p>
          <a:p>
            <a:pPr>
              <a:spcBef>
                <a:spcPts val="200"/>
              </a:spcBef>
            </a:pPr>
            <a:r>
              <a:rPr lang="en-US" sz="2000" dirty="0" smtClean="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Saved all metrics into models/</a:t>
            </a:r>
            <a:r>
              <a:rPr lang="en-US" sz="2000" dirty="0" err="1">
                <a:solidFill>
                  <a:srgbClr val="212121"/>
                </a:solidFill>
                <a:latin typeface="Times New Roman" panose="02020603050405020304" pitchFamily="18" charset="0"/>
                <a:cs typeface="Times New Roman" panose="02020603050405020304" pitchFamily="18" charset="0"/>
              </a:rPr>
              <a:t>metrics.json</a:t>
            </a:r>
            <a:r>
              <a:rPr lang="en-US" sz="2000" dirty="0">
                <a:solidFill>
                  <a:srgbClr val="212121"/>
                </a:solidFill>
                <a:latin typeface="Times New Roman" panose="02020603050405020304" pitchFamily="18" charset="0"/>
                <a:cs typeface="Times New Roman" panose="02020603050405020304" pitchFamily="18" charset="0"/>
              </a:rPr>
              <a:t>.</a:t>
            </a:r>
          </a:p>
          <a:p>
            <a:pPr>
              <a:spcBef>
                <a:spcPts val="200"/>
              </a:spcBef>
            </a:pPr>
            <a:r>
              <a:rPr lang="en-US" sz="2000" dirty="0" smtClean="0">
                <a:solidFill>
                  <a:srgbClr val="212121"/>
                </a:solidFill>
                <a:latin typeface="Times New Roman" panose="02020603050405020304" pitchFamily="18" charset="0"/>
                <a:cs typeface="Times New Roman" panose="02020603050405020304" pitchFamily="18" charset="0"/>
              </a:rPr>
              <a:t> </a:t>
            </a:r>
            <a:r>
              <a:rPr lang="en-US" sz="2000" dirty="0">
                <a:solidFill>
                  <a:srgbClr val="212121"/>
                </a:solidFill>
                <a:latin typeface="Times New Roman" panose="02020603050405020304" pitchFamily="18" charset="0"/>
                <a:cs typeface="Times New Roman" panose="02020603050405020304" pitchFamily="18" charset="0"/>
              </a:rPr>
              <a:t>These metrics are later shown live on the Dashboard page. </a:t>
            </a:r>
            <a:endParaRPr lang="en-US" sz="2000" dirty="0" smtClean="0">
              <a:solidFill>
                <a:srgbClr val="212121"/>
              </a:solidFill>
              <a:latin typeface="Times New Roman" panose="02020603050405020304" pitchFamily="18" charset="0"/>
              <a:cs typeface="Times New Roman" panose="02020603050405020304" pitchFamily="18" charset="0"/>
            </a:endParaRPr>
          </a:p>
          <a:p>
            <a:pPr marL="0" indent="0">
              <a:spcBef>
                <a:spcPts val="200"/>
              </a:spcBef>
              <a:buNone/>
            </a:pPr>
            <a:endParaRPr lang="en-US" sz="2000" b="1" dirty="0" smtClean="0"/>
          </a:p>
          <a:p>
            <a:pPr marL="0" indent="0">
              <a:spcBef>
                <a:spcPts val="200"/>
              </a:spcBef>
              <a:buNone/>
            </a:pPr>
            <a:r>
              <a:rPr lang="en-US" sz="2000" b="1" dirty="0" smtClean="0"/>
              <a:t>Accuracy</a:t>
            </a:r>
            <a:r>
              <a:rPr lang="en-US" sz="2000" dirty="0"/>
              <a:t/>
            </a:r>
            <a:br>
              <a:rPr lang="en-US" sz="2000" dirty="0"/>
            </a:br>
            <a:r>
              <a:rPr lang="en-US" sz="2000" dirty="0" smtClean="0"/>
              <a:t> </a:t>
            </a:r>
            <a:r>
              <a:rPr lang="en-US" sz="2000" dirty="0"/>
              <a:t>How many predictions are correct </a:t>
            </a:r>
            <a:r>
              <a:rPr lang="en-US" sz="2000" dirty="0" smtClean="0"/>
              <a:t>overall</a:t>
            </a:r>
          </a:p>
          <a:p>
            <a:pPr marL="0" indent="0">
              <a:spcAft>
                <a:spcPts val="400"/>
              </a:spcAft>
              <a:buNone/>
            </a:pPr>
            <a:r>
              <a:rPr lang="en-US" sz="2000" b="1" dirty="0"/>
              <a:t>Precision</a:t>
            </a:r>
            <a:r>
              <a:rPr lang="en-US" sz="2000" dirty="0"/>
              <a:t/>
            </a:r>
            <a:br>
              <a:rPr lang="en-US" sz="2000" dirty="0"/>
            </a:br>
            <a:r>
              <a:rPr lang="en-US" sz="2000" dirty="0" smtClean="0"/>
              <a:t> </a:t>
            </a:r>
            <a:r>
              <a:rPr lang="en-US" sz="2000" dirty="0"/>
              <a:t>When the model says “CKD”, how often is it actually </a:t>
            </a:r>
            <a:r>
              <a:rPr lang="en-US" sz="2000" dirty="0" smtClean="0"/>
              <a:t>correct</a:t>
            </a:r>
          </a:p>
          <a:p>
            <a:pPr marL="0" indent="0">
              <a:spcAft>
                <a:spcPts val="400"/>
              </a:spcAft>
              <a:buNone/>
            </a:pPr>
            <a:r>
              <a:rPr lang="en-US" sz="2000" b="1" dirty="0"/>
              <a:t>Recall</a:t>
            </a:r>
            <a:r>
              <a:rPr lang="en-US" sz="2000" dirty="0"/>
              <a:t/>
            </a:r>
            <a:br>
              <a:rPr lang="en-US" sz="2000" dirty="0"/>
            </a:br>
            <a:r>
              <a:rPr lang="en-US" sz="2000" dirty="0" smtClean="0"/>
              <a:t> </a:t>
            </a:r>
            <a:r>
              <a:rPr lang="en-US" sz="2000" dirty="0"/>
              <a:t>Out of all real CKD patients, how many the model correctly </a:t>
            </a:r>
            <a:r>
              <a:rPr lang="en-US" sz="2000" dirty="0" smtClean="0"/>
              <a:t>identified</a:t>
            </a:r>
          </a:p>
          <a:p>
            <a:pPr marL="0" indent="0">
              <a:spcAft>
                <a:spcPts val="400"/>
              </a:spcAft>
              <a:buNone/>
            </a:pPr>
            <a:r>
              <a:rPr lang="en-US" sz="2000" b="1" dirty="0"/>
              <a:t>F1-Score</a:t>
            </a:r>
            <a:r>
              <a:rPr lang="en-US" sz="2000" dirty="0"/>
              <a:t/>
            </a:r>
            <a:br>
              <a:rPr lang="en-US" sz="2000" dirty="0"/>
            </a:br>
            <a:r>
              <a:rPr lang="en-US" sz="2000" dirty="0" smtClean="0"/>
              <a:t> </a:t>
            </a:r>
            <a:r>
              <a:rPr lang="en-US" sz="2000" dirty="0"/>
              <a:t>A balance between Precision and Recall</a:t>
            </a:r>
            <a:endParaRPr lang="en-US" sz="2000" b="1" dirty="0" smtClean="0">
              <a:solidFill>
                <a:srgbClr val="212121"/>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17</a:t>
            </a:fld>
            <a:endParaRPr lang="en-US" altLang="en-US"/>
          </a:p>
        </p:txBody>
      </p:sp>
    </p:spTree>
    <p:extLst>
      <p:ext uri="{BB962C8B-B14F-4D97-AF65-F5344CB8AC3E}">
        <p14:creationId xmlns:p14="http://schemas.microsoft.com/office/powerpoint/2010/main" val="15306837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7(</a:t>
            </a:r>
            <a:r>
              <a:rPr lang="en-US" sz="3200" b="1" dirty="0">
                <a:solidFill>
                  <a:schemeClr val="accent1">
                    <a:lumMod val="75000"/>
                  </a:schemeClr>
                </a:solidFill>
                <a:latin typeface="Times New Roman" panose="02020603050405020304" pitchFamily="18" charset="0"/>
                <a:cs typeface="Times New Roman" panose="02020603050405020304" pitchFamily="18" charset="0"/>
              </a:rPr>
              <a:t>To connect the trained model to the internet using an </a:t>
            </a:r>
            <a:r>
              <a:rPr lang="en-US" sz="3200" b="1" dirty="0" smtClean="0">
                <a:solidFill>
                  <a:schemeClr val="accent1">
                    <a:lumMod val="75000"/>
                  </a:schemeClr>
                </a:solidFill>
                <a:latin typeface="Times New Roman" panose="02020603050405020304" pitchFamily="18" charset="0"/>
                <a:cs typeface="Times New Roman" panose="02020603050405020304" pitchFamily="18" charset="0"/>
              </a:rPr>
              <a:t>API</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fontScale="92500" lnSpcReduction="10000"/>
          </a:bodyPr>
          <a:lstStyle/>
          <a:p>
            <a:pPr marL="0" indent="0">
              <a:spcAft>
                <a:spcPts val="400"/>
              </a:spcAft>
              <a:buNone/>
            </a:pPr>
            <a:r>
              <a:rPr lang="en-US" sz="2200" b="1" dirty="0">
                <a:solidFill>
                  <a:srgbClr val="212121"/>
                </a:solidFill>
              </a:rPr>
              <a:t>File responsible: </a:t>
            </a:r>
            <a:r>
              <a:rPr lang="en-US" sz="2200" b="1" dirty="0" smtClean="0">
                <a:solidFill>
                  <a:srgbClr val="212121"/>
                </a:solidFill>
              </a:rPr>
              <a:t>server.py</a:t>
            </a:r>
            <a:r>
              <a:rPr lang="en-US" sz="2200" b="1" dirty="0">
                <a:solidFill>
                  <a:srgbClr val="212121"/>
                </a:solidFill>
              </a:rPr>
              <a:t>.</a:t>
            </a:r>
          </a:p>
          <a:p>
            <a:pPr>
              <a:spcAft>
                <a:spcPts val="400"/>
              </a:spcAft>
            </a:pPr>
            <a:endParaRPr lang="en-US" sz="2200" dirty="0" smtClean="0">
              <a:solidFill>
                <a:srgbClr val="222222"/>
              </a:solidFill>
            </a:endParaRPr>
          </a:p>
          <a:p>
            <a:pPr>
              <a:spcAft>
                <a:spcPts val="400"/>
              </a:spcAft>
            </a:pPr>
            <a:r>
              <a:rPr lang="en-US" sz="2200" dirty="0" smtClean="0">
                <a:solidFill>
                  <a:srgbClr val="222222"/>
                </a:solidFill>
              </a:rPr>
              <a:t>The </a:t>
            </a:r>
            <a:r>
              <a:rPr lang="en-US" sz="2200" dirty="0">
                <a:solidFill>
                  <a:srgbClr val="222222"/>
                </a:solidFill>
              </a:rPr>
              <a:t>ML model (.</a:t>
            </a:r>
            <a:r>
              <a:rPr lang="en-US" sz="2200" dirty="0" err="1">
                <a:solidFill>
                  <a:srgbClr val="222222"/>
                </a:solidFill>
              </a:rPr>
              <a:t>pkl</a:t>
            </a:r>
            <a:r>
              <a:rPr lang="en-US" sz="2200" dirty="0">
                <a:solidFill>
                  <a:srgbClr val="222222"/>
                </a:solidFill>
              </a:rPr>
              <a:t>) cannot be used directly by a website.</a:t>
            </a:r>
          </a:p>
          <a:p>
            <a:pPr>
              <a:spcAft>
                <a:spcPts val="400"/>
              </a:spcAft>
            </a:pPr>
            <a:r>
              <a:rPr lang="en-US" sz="2200" dirty="0" smtClean="0">
                <a:solidFill>
                  <a:srgbClr val="222222"/>
                </a:solidFill>
              </a:rPr>
              <a:t>We </a:t>
            </a:r>
            <a:r>
              <a:rPr lang="en-US" sz="2200" dirty="0">
                <a:solidFill>
                  <a:srgbClr val="222222"/>
                </a:solidFill>
              </a:rPr>
              <a:t>need a 'middleman' server that receives data and returns predictions.</a:t>
            </a:r>
          </a:p>
          <a:p>
            <a:pPr>
              <a:spcAft>
                <a:spcPts val="400"/>
              </a:spcAft>
            </a:pPr>
            <a:r>
              <a:rPr lang="en-US" sz="2200" dirty="0" smtClean="0">
                <a:solidFill>
                  <a:srgbClr val="222222"/>
                </a:solidFill>
              </a:rPr>
              <a:t>We </a:t>
            </a:r>
            <a:r>
              <a:rPr lang="en-US" sz="2200" dirty="0">
                <a:solidFill>
                  <a:srgbClr val="222222"/>
                </a:solidFill>
              </a:rPr>
              <a:t>built this server using </a:t>
            </a:r>
            <a:r>
              <a:rPr lang="en-US" sz="2200" dirty="0" err="1">
                <a:solidFill>
                  <a:srgbClr val="222222"/>
                </a:solidFill>
              </a:rPr>
              <a:t>FastAPI</a:t>
            </a:r>
            <a:r>
              <a:rPr lang="en-US" sz="2200" dirty="0">
                <a:solidFill>
                  <a:srgbClr val="222222"/>
                </a:solidFill>
              </a:rPr>
              <a:t> (a modern Python framework).</a:t>
            </a:r>
          </a:p>
          <a:p>
            <a:pPr>
              <a:spcAft>
                <a:spcPts val="400"/>
              </a:spcAft>
            </a:pPr>
            <a:r>
              <a:rPr lang="en-US" sz="2200" dirty="0" smtClean="0">
                <a:solidFill>
                  <a:srgbClr val="222222"/>
                </a:solidFill>
              </a:rPr>
              <a:t>The </a:t>
            </a:r>
            <a:r>
              <a:rPr lang="en-US" sz="2200" dirty="0">
                <a:solidFill>
                  <a:srgbClr val="222222"/>
                </a:solidFill>
              </a:rPr>
              <a:t>server has 3 main endpoints (URLs):</a:t>
            </a:r>
          </a:p>
          <a:p>
            <a:pPr>
              <a:spcAft>
                <a:spcPts val="400"/>
              </a:spcAft>
            </a:pPr>
            <a:r>
              <a:rPr lang="en-US" sz="2200" dirty="0" smtClean="0">
                <a:solidFill>
                  <a:srgbClr val="222222"/>
                </a:solidFill>
              </a:rPr>
              <a:t>/predict </a:t>
            </a:r>
            <a:r>
              <a:rPr lang="en-US" sz="2200" dirty="0">
                <a:solidFill>
                  <a:srgbClr val="222222"/>
                </a:solidFill>
              </a:rPr>
              <a:t>→ Receives patient data, returns prediction.</a:t>
            </a:r>
          </a:p>
          <a:p>
            <a:pPr>
              <a:spcAft>
                <a:spcPts val="400"/>
              </a:spcAft>
            </a:pPr>
            <a:r>
              <a:rPr lang="en-US" sz="2200" dirty="0" smtClean="0">
                <a:solidFill>
                  <a:srgbClr val="222222"/>
                </a:solidFill>
              </a:rPr>
              <a:t>/history </a:t>
            </a:r>
            <a:r>
              <a:rPr lang="en-US" sz="2200" dirty="0">
                <a:solidFill>
                  <a:srgbClr val="222222"/>
                </a:solidFill>
              </a:rPr>
              <a:t>→ Returns all past predictions.</a:t>
            </a:r>
          </a:p>
          <a:p>
            <a:pPr>
              <a:spcAft>
                <a:spcPts val="400"/>
              </a:spcAft>
            </a:pPr>
            <a:r>
              <a:rPr lang="en-US" sz="2200" dirty="0" smtClean="0">
                <a:solidFill>
                  <a:srgbClr val="222222"/>
                </a:solidFill>
              </a:rPr>
              <a:t>/model-metrics </a:t>
            </a:r>
            <a:r>
              <a:rPr lang="en-US" sz="2200" dirty="0">
                <a:solidFill>
                  <a:srgbClr val="222222"/>
                </a:solidFill>
              </a:rPr>
              <a:t>→ Returns model accuracy &amp; feature importance.</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Tree>
    <p:extLst>
      <p:ext uri="{BB962C8B-B14F-4D97-AF65-F5344CB8AC3E}">
        <p14:creationId xmlns:p14="http://schemas.microsoft.com/office/powerpoint/2010/main" val="899034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8(</a:t>
            </a:r>
            <a:r>
              <a:rPr lang="en-US" sz="2800" b="1" dirty="0">
                <a:solidFill>
                  <a:schemeClr val="accent1">
                    <a:lumMod val="75000"/>
                  </a:schemeClr>
                </a:solidFill>
                <a:latin typeface="Times New Roman" panose="02020603050405020304" pitchFamily="18" charset="0"/>
                <a:cs typeface="Times New Roman" panose="02020603050405020304" pitchFamily="18" charset="0"/>
              </a:rPr>
              <a:t>Store every prediction permanently in a database and </a:t>
            </a:r>
            <a:r>
              <a:rPr lang="en-US" sz="2800" b="1" dirty="0" smtClean="0">
                <a:solidFill>
                  <a:schemeClr val="accent1">
                    <a:lumMod val="75000"/>
                  </a:schemeClr>
                </a:solidFill>
                <a:latin typeface="Times New Roman" panose="02020603050405020304" pitchFamily="18" charset="0"/>
                <a:cs typeface="Times New Roman" panose="02020603050405020304" pitchFamily="18" charset="0"/>
              </a:rPr>
              <a:t>show it </a:t>
            </a:r>
            <a:r>
              <a:rPr lang="en-US" sz="2800" b="1" dirty="0">
                <a:solidFill>
                  <a:schemeClr val="accent1">
                    <a:lumMod val="75000"/>
                  </a:schemeClr>
                </a:solidFill>
                <a:latin typeface="Times New Roman" panose="02020603050405020304" pitchFamily="18" charset="0"/>
                <a:cs typeface="Times New Roman" panose="02020603050405020304" pitchFamily="18" charset="0"/>
              </a:rPr>
              <a:t>in a History </a:t>
            </a:r>
            <a:r>
              <a:rPr lang="en-US" sz="2800" b="1" dirty="0" smtClean="0">
                <a:solidFill>
                  <a:schemeClr val="accent1">
                    <a:lumMod val="75000"/>
                  </a:schemeClr>
                </a:solidFill>
                <a:latin typeface="Times New Roman" panose="02020603050405020304" pitchFamily="18" charset="0"/>
                <a:cs typeface="Times New Roman" panose="02020603050405020304" pitchFamily="18" charset="0"/>
              </a:rPr>
              <a:t>page</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Without a database, predictions are lost when the server restarts.</a:t>
            </a:r>
          </a:p>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We used SQLite — a small, file-based database (no setup needed).</a:t>
            </a:r>
          </a:p>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All predictions get saved in a file called </a:t>
            </a:r>
            <a:r>
              <a:rPr lang="en-US" sz="2500" dirty="0" err="1">
                <a:solidFill>
                  <a:srgbClr val="222222"/>
                </a:solidFill>
                <a:latin typeface="Times New Roman" panose="02020603050405020304" pitchFamily="18" charset="0"/>
                <a:cs typeface="Times New Roman" panose="02020603050405020304" pitchFamily="18" charset="0"/>
              </a:rPr>
              <a:t>ckd_history.db</a:t>
            </a:r>
            <a:r>
              <a:rPr lang="en-US" sz="2500" dirty="0">
                <a:solidFill>
                  <a:srgbClr val="222222"/>
                </a:solidFill>
                <a:latin typeface="Times New Roman" panose="02020603050405020304" pitchFamily="18" charset="0"/>
                <a:cs typeface="Times New Roman" panose="02020603050405020304" pitchFamily="18" charset="0"/>
              </a:rPr>
              <a:t>.</a:t>
            </a:r>
          </a:p>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Each record has: id, timestamp, prediction, confidence, </a:t>
            </a:r>
            <a:r>
              <a:rPr lang="en-US" sz="2500" dirty="0" err="1">
                <a:solidFill>
                  <a:srgbClr val="222222"/>
                </a:solidFill>
                <a:latin typeface="Times New Roman" panose="02020603050405020304" pitchFamily="18" charset="0"/>
                <a:cs typeface="Times New Roman" panose="02020603050405020304" pitchFamily="18" charset="0"/>
              </a:rPr>
              <a:t>risk_level</a:t>
            </a:r>
            <a:r>
              <a:rPr lang="en-US" sz="2500" dirty="0">
                <a:solidFill>
                  <a:srgbClr val="222222"/>
                </a:solidFill>
                <a:latin typeface="Times New Roman" panose="02020603050405020304" pitchFamily="18" charset="0"/>
                <a:cs typeface="Times New Roman" panose="02020603050405020304" pitchFamily="18" charset="0"/>
              </a:rPr>
              <a:t>.</a:t>
            </a:r>
          </a:p>
          <a:p>
            <a:pPr marL="0" indent="0">
              <a:spcAft>
                <a:spcPts val="400"/>
              </a:spcAft>
              <a:buNone/>
            </a:pPr>
            <a:r>
              <a:rPr lang="en-US" sz="2500" dirty="0">
                <a:solidFill>
                  <a:srgbClr val="222222"/>
                </a:solidFill>
                <a:latin typeface="Times New Roman" panose="02020603050405020304" pitchFamily="18" charset="0"/>
                <a:cs typeface="Times New Roman" panose="02020603050405020304" pitchFamily="18" charset="0"/>
              </a:rPr>
              <a:t>•  Logic is written in database.py.</a:t>
            </a:r>
          </a:p>
          <a:p>
            <a:pPr marL="0" indent="0">
              <a:spcAft>
                <a:spcPts val="400"/>
              </a:spcAft>
              <a:buNone/>
            </a:pPr>
            <a:endParaRPr lang="en-US" sz="1800" dirty="0" smtClean="0">
              <a:solidFill>
                <a:srgbClr val="222222"/>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19</a:t>
            </a:fld>
            <a:endParaRPr lang="en-US" altLang="en-US"/>
          </a:p>
        </p:txBody>
      </p:sp>
    </p:spTree>
    <p:extLst>
      <p:ext uri="{BB962C8B-B14F-4D97-AF65-F5344CB8AC3E}">
        <p14:creationId xmlns:p14="http://schemas.microsoft.com/office/powerpoint/2010/main" val="6858789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9(</a:t>
            </a:r>
            <a:r>
              <a:rPr lang="en-US" sz="3200" b="1" dirty="0">
                <a:solidFill>
                  <a:schemeClr val="accent1">
                    <a:lumMod val="75000"/>
                  </a:schemeClr>
                </a:solidFill>
                <a:latin typeface="Times New Roman" panose="02020603050405020304" pitchFamily="18" charset="0"/>
                <a:cs typeface="Times New Roman" panose="02020603050405020304" pitchFamily="18" charset="0"/>
              </a:rPr>
              <a:t>To build a user-friendly website where people can enter data and see </a:t>
            </a:r>
            <a:r>
              <a:rPr lang="en-US" sz="3200" b="1" dirty="0" smtClean="0">
                <a:solidFill>
                  <a:schemeClr val="accent1">
                    <a:lumMod val="75000"/>
                  </a:schemeClr>
                </a:solidFill>
                <a:latin typeface="Times New Roman" panose="02020603050405020304" pitchFamily="18" charset="0"/>
                <a:cs typeface="Times New Roman" panose="02020603050405020304" pitchFamily="18" charset="0"/>
              </a:rPr>
              <a:t>results</a:t>
            </a:r>
            <a:r>
              <a:rPr lang="en-US" sz="3200" b="1" dirty="0" smtClean="0">
                <a:solidFill>
                  <a:schemeClr val="accent1">
                    <a:lumMod val="75000"/>
                  </a:schemeClr>
                </a:solidFill>
                <a:latin typeface="Calibri"/>
              </a:rPr>
              <a:t>)</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a:spcBef>
                <a:spcPts val="200"/>
              </a:spcBef>
            </a:pPr>
            <a:r>
              <a:rPr lang="en-US" sz="2000" dirty="0" smtClean="0">
                <a:solidFill>
                  <a:srgbClr val="212121"/>
                </a:solidFill>
              </a:rPr>
              <a:t>Built </a:t>
            </a:r>
            <a:r>
              <a:rPr lang="en-US" sz="2000" dirty="0">
                <a:solidFill>
                  <a:srgbClr val="212121"/>
                </a:solidFill>
              </a:rPr>
              <a:t>the frontend using </a:t>
            </a:r>
            <a:r>
              <a:rPr lang="en-US" sz="2000" dirty="0" err="1">
                <a:solidFill>
                  <a:srgbClr val="212121"/>
                </a:solidFill>
              </a:rPr>
              <a:t>ReactJS</a:t>
            </a:r>
            <a:r>
              <a:rPr lang="en-US" sz="2000" dirty="0">
                <a:solidFill>
                  <a:srgbClr val="212121"/>
                </a:solidFill>
              </a:rPr>
              <a:t> inside the project_2/ folder.</a:t>
            </a:r>
          </a:p>
          <a:p>
            <a:pPr>
              <a:spcAft>
                <a:spcPts val="400"/>
              </a:spcAft>
            </a:pPr>
            <a:r>
              <a:rPr lang="en-US" sz="2000" dirty="0" smtClean="0">
                <a:solidFill>
                  <a:srgbClr val="222222"/>
                </a:solidFill>
              </a:rPr>
              <a:t>The </a:t>
            </a:r>
            <a:r>
              <a:rPr lang="en-US" sz="2000" dirty="0">
                <a:solidFill>
                  <a:srgbClr val="222222"/>
                </a:solidFill>
              </a:rPr>
              <a:t>website is built using React with Material UI (MUI) for nice design.</a:t>
            </a:r>
          </a:p>
          <a:p>
            <a:pPr>
              <a:spcAft>
                <a:spcPts val="400"/>
              </a:spcAft>
            </a:pPr>
            <a:r>
              <a:rPr lang="en-US" sz="2000" dirty="0" smtClean="0">
                <a:solidFill>
                  <a:srgbClr val="222222"/>
                </a:solidFill>
              </a:rPr>
              <a:t>It has 5 pages connected by react:</a:t>
            </a:r>
          </a:p>
          <a:p>
            <a:pPr>
              <a:spcAft>
                <a:spcPts val="400"/>
              </a:spcAft>
            </a:pPr>
            <a:r>
              <a:rPr lang="en-US" sz="2000" dirty="0" smtClean="0">
                <a:solidFill>
                  <a:srgbClr val="222222"/>
                </a:solidFill>
              </a:rPr>
              <a:t>1</a:t>
            </a:r>
            <a:r>
              <a:rPr lang="en-US" sz="2000" dirty="0">
                <a:solidFill>
                  <a:srgbClr val="222222"/>
                </a:solidFill>
              </a:rPr>
              <a:t>. Home — welcome page and project info.</a:t>
            </a:r>
          </a:p>
          <a:p>
            <a:pPr>
              <a:spcAft>
                <a:spcPts val="400"/>
              </a:spcAft>
            </a:pPr>
            <a:r>
              <a:rPr lang="en-US" sz="2000" dirty="0" smtClean="0">
                <a:solidFill>
                  <a:srgbClr val="222222"/>
                </a:solidFill>
              </a:rPr>
              <a:t>2</a:t>
            </a:r>
            <a:r>
              <a:rPr lang="en-US" sz="2000" dirty="0">
                <a:solidFill>
                  <a:srgbClr val="222222"/>
                </a:solidFill>
              </a:rPr>
              <a:t>. Prediction Form — user enters 24 medical values.</a:t>
            </a:r>
          </a:p>
          <a:p>
            <a:pPr>
              <a:spcAft>
                <a:spcPts val="400"/>
              </a:spcAft>
            </a:pPr>
            <a:r>
              <a:rPr lang="en-US" sz="2000" dirty="0" smtClean="0">
                <a:solidFill>
                  <a:srgbClr val="222222"/>
                </a:solidFill>
              </a:rPr>
              <a:t>3</a:t>
            </a:r>
            <a:r>
              <a:rPr lang="en-US" sz="2000" dirty="0">
                <a:solidFill>
                  <a:srgbClr val="222222"/>
                </a:solidFill>
              </a:rPr>
              <a:t>. Results — shows the prediction with confidence and risk level.</a:t>
            </a:r>
          </a:p>
          <a:p>
            <a:pPr>
              <a:spcAft>
                <a:spcPts val="400"/>
              </a:spcAft>
            </a:pPr>
            <a:r>
              <a:rPr lang="en-US" sz="2000" dirty="0" smtClean="0">
                <a:solidFill>
                  <a:srgbClr val="222222"/>
                </a:solidFill>
              </a:rPr>
              <a:t>4</a:t>
            </a:r>
            <a:r>
              <a:rPr lang="en-US" sz="2000" dirty="0">
                <a:solidFill>
                  <a:srgbClr val="222222"/>
                </a:solidFill>
              </a:rPr>
              <a:t>. History — shows a table of all past predictions.</a:t>
            </a:r>
          </a:p>
          <a:p>
            <a:pPr>
              <a:spcAft>
                <a:spcPts val="400"/>
              </a:spcAft>
            </a:pPr>
            <a:r>
              <a:rPr lang="en-US" sz="2000" dirty="0" smtClean="0">
                <a:solidFill>
                  <a:srgbClr val="222222"/>
                </a:solidFill>
              </a:rPr>
              <a:t>5</a:t>
            </a:r>
            <a:r>
              <a:rPr lang="en-US" sz="2000" dirty="0">
                <a:solidFill>
                  <a:srgbClr val="222222"/>
                </a:solidFill>
              </a:rPr>
              <a:t>. Dashboard — shows model accuracy and feature importance chart.</a:t>
            </a:r>
          </a:p>
          <a:p>
            <a:pPr>
              <a:spcBef>
                <a:spcPts val="200"/>
              </a:spcBef>
            </a:pPr>
            <a:endParaRPr lang="en-US" sz="2000" b="1" dirty="0" smtClean="0">
              <a:solidFill>
                <a:srgbClr val="212121"/>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20</a:t>
            </a:fld>
            <a:endParaRPr lang="en-US" altLang="en-US"/>
          </a:p>
        </p:txBody>
      </p:sp>
    </p:spTree>
    <p:extLst>
      <p:ext uri="{BB962C8B-B14F-4D97-AF65-F5344CB8AC3E}">
        <p14:creationId xmlns:p14="http://schemas.microsoft.com/office/powerpoint/2010/main" val="6387767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normAutofit fontScale="90000"/>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WEEK 10(</a:t>
            </a:r>
            <a:r>
              <a:rPr lang="en-US" sz="3200" b="1" dirty="0">
                <a:solidFill>
                  <a:schemeClr val="accent1">
                    <a:lumMod val="75000"/>
                  </a:schemeClr>
                </a:solidFill>
                <a:latin typeface="Calibri"/>
              </a:rPr>
              <a:t>Connect all parts, test full flow, fix issues, and prepare </a:t>
            </a:r>
            <a:r>
              <a:rPr lang="en-US" sz="3200" b="1" dirty="0" smtClean="0">
                <a:solidFill>
                  <a:schemeClr val="accent1">
                    <a:lumMod val="75000"/>
                  </a:schemeClr>
                </a:solidFill>
                <a:latin typeface="Calibri"/>
              </a:rPr>
              <a:t>submission)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7059"/>
            <a:ext cx="10515600" cy="3795501"/>
          </a:xfrm>
        </p:spPr>
        <p:txBody>
          <a:bodyPr>
            <a:normAutofit/>
          </a:bodyPr>
          <a:lstStyle/>
          <a:p>
            <a:pPr marL="0" indent="0">
              <a:spcAft>
                <a:spcPts val="400"/>
              </a:spcAft>
              <a:buNone/>
            </a:pPr>
            <a:r>
              <a:rPr lang="en-US" sz="2000" dirty="0">
                <a:solidFill>
                  <a:srgbClr val="222222"/>
                </a:solidFill>
              </a:rPr>
              <a:t>•  Started the </a:t>
            </a:r>
            <a:r>
              <a:rPr lang="en-US" sz="2000" dirty="0" err="1">
                <a:solidFill>
                  <a:srgbClr val="222222"/>
                </a:solidFill>
              </a:rPr>
              <a:t>FastAPI</a:t>
            </a:r>
            <a:r>
              <a:rPr lang="en-US" sz="2000" dirty="0">
                <a:solidFill>
                  <a:srgbClr val="222222"/>
                </a:solidFill>
              </a:rPr>
              <a:t> backend on port 8000.</a:t>
            </a:r>
          </a:p>
          <a:p>
            <a:pPr marL="0" indent="0">
              <a:spcAft>
                <a:spcPts val="400"/>
              </a:spcAft>
              <a:buNone/>
            </a:pPr>
            <a:r>
              <a:rPr lang="en-US" sz="2000" dirty="0" smtClean="0">
                <a:solidFill>
                  <a:srgbClr val="222222"/>
                </a:solidFill>
              </a:rPr>
              <a:t>•  </a:t>
            </a:r>
            <a:r>
              <a:rPr lang="en-US" sz="2000" dirty="0">
                <a:solidFill>
                  <a:srgbClr val="222222"/>
                </a:solidFill>
              </a:rPr>
              <a:t>Started the React frontend on port 3000.</a:t>
            </a:r>
          </a:p>
          <a:p>
            <a:pPr marL="0" indent="0">
              <a:spcAft>
                <a:spcPts val="400"/>
              </a:spcAft>
              <a:buNone/>
            </a:pPr>
            <a:r>
              <a:rPr lang="en-US" sz="2000" dirty="0">
                <a:solidFill>
                  <a:srgbClr val="222222"/>
                </a:solidFill>
              </a:rPr>
              <a:t>•  Opened the website in browser, filled the form, clicked Predict.</a:t>
            </a:r>
          </a:p>
          <a:p>
            <a:pPr marL="0" indent="0">
              <a:spcAft>
                <a:spcPts val="400"/>
              </a:spcAft>
              <a:buNone/>
            </a:pPr>
            <a:r>
              <a:rPr lang="en-US" sz="2000" dirty="0">
                <a:solidFill>
                  <a:srgbClr val="222222"/>
                </a:solidFill>
              </a:rPr>
              <a:t>•  The request went to backend → model predicted → saved to DB → result returned.</a:t>
            </a:r>
          </a:p>
          <a:p>
            <a:pPr marL="0" indent="0">
              <a:spcAft>
                <a:spcPts val="400"/>
              </a:spcAft>
              <a:buNone/>
            </a:pPr>
            <a:r>
              <a:rPr lang="en-US" sz="2000" dirty="0">
                <a:solidFill>
                  <a:srgbClr val="222222"/>
                </a:solidFill>
              </a:rPr>
              <a:t>•  Result showed on screen with confidence % and risk level.</a:t>
            </a:r>
          </a:p>
          <a:p>
            <a:pPr marL="0" indent="0">
              <a:spcAft>
                <a:spcPts val="400"/>
              </a:spcAft>
              <a:buNone/>
            </a:pPr>
            <a:r>
              <a:rPr lang="en-US" sz="2000" dirty="0">
                <a:solidFill>
                  <a:srgbClr val="222222"/>
                </a:solidFill>
              </a:rPr>
              <a:t>•  History page started showing all past predictions.</a:t>
            </a:r>
          </a:p>
          <a:p>
            <a:pPr marL="0" indent="0">
              <a:spcAft>
                <a:spcPts val="400"/>
              </a:spcAft>
              <a:buNone/>
            </a:pPr>
            <a:r>
              <a:rPr lang="en-US" sz="2000" dirty="0">
                <a:solidFill>
                  <a:srgbClr val="222222"/>
                </a:solidFill>
              </a:rPr>
              <a:t>•  Dashboard showed live accuracy and top features</a:t>
            </a:r>
            <a:endParaRPr lang="en-US" sz="2000" b="1" dirty="0" smtClean="0">
              <a:solidFill>
                <a:srgbClr val="212121"/>
              </a:solidFill>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21</a:t>
            </a:fld>
            <a:endParaRPr lang="en-US" altLang="en-US"/>
          </a:p>
        </p:txBody>
      </p:sp>
    </p:spTree>
    <p:extLst>
      <p:ext uri="{BB962C8B-B14F-4D97-AF65-F5344CB8AC3E}">
        <p14:creationId xmlns:p14="http://schemas.microsoft.com/office/powerpoint/2010/main" val="1803363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199" y="1184367"/>
            <a:ext cx="10762673" cy="4948578"/>
          </a:xfrm>
        </p:spPr>
        <p:txBody>
          <a:bodyPr>
            <a:normAutofit/>
          </a:bodyPr>
          <a:lstStyle/>
          <a:p>
            <a:pPr lvl="1"/>
            <a:r>
              <a:rPr lang="en-US" sz="2500" dirty="0" smtClean="0">
                <a:latin typeface="Times New Roman" pitchFamily="18" charset="0"/>
                <a:cs typeface="Times New Roman" pitchFamily="18" charset="0"/>
              </a:rPr>
              <a:t>Operating System: Windows 10 / 11</a:t>
            </a:r>
          </a:p>
          <a:p>
            <a:pPr lvl="1"/>
            <a:r>
              <a:rPr lang="en-US" sz="2500" dirty="0" smtClean="0">
                <a:latin typeface="Times New Roman" pitchFamily="18" charset="0"/>
                <a:cs typeface="Times New Roman" pitchFamily="18" charset="0"/>
              </a:rPr>
              <a:t>Programming Language: Python 3.x, </a:t>
            </a:r>
          </a:p>
          <a:p>
            <a:pPr lvl="1"/>
            <a:r>
              <a:rPr lang="en-US" sz="2500" dirty="0" smtClean="0">
                <a:latin typeface="Times New Roman" pitchFamily="18" charset="0"/>
                <a:cs typeface="Times New Roman" pitchFamily="18" charset="0"/>
              </a:rPr>
              <a:t>Backend Framework: </a:t>
            </a:r>
            <a:r>
              <a:rPr lang="en-US" sz="2500" dirty="0" err="1" smtClean="0">
                <a:latin typeface="Times New Roman" pitchFamily="18" charset="0"/>
                <a:cs typeface="Times New Roman" pitchFamily="18" charset="0"/>
              </a:rPr>
              <a:t>FastAPI</a:t>
            </a:r>
            <a:endParaRPr lang="en-US" sz="2500" dirty="0" smtClean="0">
              <a:latin typeface="Times New Roman" pitchFamily="18" charset="0"/>
              <a:cs typeface="Times New Roman" pitchFamily="18" charset="0"/>
            </a:endParaRPr>
          </a:p>
          <a:p>
            <a:pPr lvl="1"/>
            <a:r>
              <a:rPr lang="en-US" sz="2500" dirty="0" smtClean="0">
                <a:latin typeface="Times New Roman" pitchFamily="18" charset="0"/>
                <a:cs typeface="Times New Roman" pitchFamily="18" charset="0"/>
              </a:rPr>
              <a:t>Server</a:t>
            </a:r>
            <a:r>
              <a:rPr lang="en-US" sz="2500" b="1" dirty="0">
                <a:latin typeface="Times New Roman" pitchFamily="18" charset="0"/>
                <a:cs typeface="Times New Roman" pitchFamily="18" charset="0"/>
              </a:rPr>
              <a:t>:</a:t>
            </a:r>
            <a:r>
              <a:rPr lang="en-US" sz="2500" dirty="0">
                <a:latin typeface="Times New Roman" pitchFamily="18" charset="0"/>
                <a:cs typeface="Times New Roman" pitchFamily="18" charset="0"/>
              </a:rPr>
              <a:t> </a:t>
            </a:r>
            <a:r>
              <a:rPr lang="en-US" sz="2500" dirty="0" err="1" smtClean="0">
                <a:latin typeface="Times New Roman" pitchFamily="18" charset="0"/>
                <a:cs typeface="Times New Roman" pitchFamily="18" charset="0"/>
              </a:rPr>
              <a:t>Uvicorn</a:t>
            </a:r>
            <a:endParaRPr lang="en-US" sz="2500" dirty="0" smtClean="0">
              <a:latin typeface="Times New Roman" pitchFamily="18" charset="0"/>
              <a:cs typeface="Times New Roman" pitchFamily="18" charset="0"/>
            </a:endParaRPr>
          </a:p>
          <a:p>
            <a:pPr lvl="1"/>
            <a:r>
              <a:rPr lang="en-US" sz="2500" dirty="0" smtClean="0">
                <a:latin typeface="Times New Roman" pitchFamily="18" charset="0"/>
                <a:cs typeface="Times New Roman" pitchFamily="18" charset="0"/>
              </a:rPr>
              <a:t>Frontend Framework: React.js</a:t>
            </a:r>
          </a:p>
          <a:p>
            <a:pPr lvl="1"/>
            <a:r>
              <a:rPr lang="en-US" sz="2500" dirty="0">
                <a:latin typeface="Times New Roman" pitchFamily="18" charset="0"/>
                <a:cs typeface="Times New Roman" pitchFamily="18" charset="0"/>
              </a:rPr>
              <a:t>Machine Learning Libraries</a:t>
            </a:r>
            <a:r>
              <a:rPr lang="en-US" sz="2500" b="1" dirty="0">
                <a:latin typeface="Times New Roman" pitchFamily="18" charset="0"/>
                <a:cs typeface="Times New Roman" pitchFamily="18" charset="0"/>
              </a:rPr>
              <a:t>:</a:t>
            </a:r>
            <a:r>
              <a:rPr lang="en-US" sz="2500" dirty="0">
                <a:latin typeface="Times New Roman" pitchFamily="18" charset="0"/>
                <a:cs typeface="Times New Roman" pitchFamily="18" charset="0"/>
              </a:rPr>
              <a:t> </a:t>
            </a:r>
            <a:r>
              <a:rPr lang="en-US" sz="2500" dirty="0" err="1">
                <a:latin typeface="Times New Roman" pitchFamily="18" charset="0"/>
                <a:cs typeface="Times New Roman" pitchFamily="18" charset="0"/>
              </a:rPr>
              <a:t>Scikit</a:t>
            </a:r>
            <a:r>
              <a:rPr lang="en-US" sz="2500" dirty="0">
                <a:latin typeface="Times New Roman" pitchFamily="18" charset="0"/>
                <a:cs typeface="Times New Roman" pitchFamily="18" charset="0"/>
              </a:rPr>
              <a:t>-learn, Pandas, </a:t>
            </a:r>
            <a:r>
              <a:rPr lang="en-US" sz="2500" dirty="0" err="1">
                <a:latin typeface="Times New Roman" pitchFamily="18" charset="0"/>
                <a:cs typeface="Times New Roman" pitchFamily="18" charset="0"/>
              </a:rPr>
              <a:t>NumPy</a:t>
            </a:r>
            <a:endParaRPr lang="en-US" sz="2500" dirty="0">
              <a:latin typeface="Times New Roman" pitchFamily="18" charset="0"/>
              <a:cs typeface="Times New Roman" pitchFamily="18" charset="0"/>
            </a:endParaRPr>
          </a:p>
          <a:p>
            <a:pPr lvl="1"/>
            <a:r>
              <a:rPr lang="en-US" sz="2500" dirty="0" smtClean="0">
                <a:latin typeface="Times New Roman" pitchFamily="18" charset="0"/>
                <a:cs typeface="Times New Roman" pitchFamily="18" charset="0"/>
              </a:rPr>
              <a:t>Development </a:t>
            </a:r>
            <a:r>
              <a:rPr lang="en-US" sz="2500" dirty="0">
                <a:latin typeface="Times New Roman" pitchFamily="18" charset="0"/>
                <a:cs typeface="Times New Roman" pitchFamily="18" charset="0"/>
              </a:rPr>
              <a:t>Tool</a:t>
            </a:r>
            <a:r>
              <a:rPr lang="en-US" sz="2500" b="1" dirty="0">
                <a:latin typeface="Times New Roman" pitchFamily="18" charset="0"/>
                <a:cs typeface="Times New Roman" pitchFamily="18" charset="0"/>
              </a:rPr>
              <a:t>:</a:t>
            </a:r>
            <a:r>
              <a:rPr lang="en-US" sz="2500" dirty="0">
                <a:latin typeface="Times New Roman" pitchFamily="18" charset="0"/>
                <a:cs typeface="Times New Roman" pitchFamily="18" charset="0"/>
              </a:rPr>
              <a:t> Visual Studio </a:t>
            </a:r>
            <a:r>
              <a:rPr lang="en-US" sz="2500" dirty="0" smtClean="0">
                <a:latin typeface="Times New Roman" pitchFamily="18" charset="0"/>
                <a:cs typeface="Times New Roman" pitchFamily="18" charset="0"/>
              </a:rPr>
              <a:t>Code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22</a:t>
            </a:fld>
            <a:endParaRPr lang="en-US" altLang="en-US"/>
          </a:p>
        </p:txBody>
      </p:sp>
    </p:spTree>
    <p:extLst>
      <p:ext uri="{BB962C8B-B14F-4D97-AF65-F5344CB8AC3E}">
        <p14:creationId xmlns:p14="http://schemas.microsoft.com/office/powerpoint/2010/main" val="31286960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838200" y="1184367"/>
            <a:ext cx="10515600" cy="4058194"/>
          </a:xfrm>
        </p:spPr>
        <p:txBody>
          <a:bodyPr>
            <a:normAutofit/>
          </a:bodyPr>
          <a:lstStyle/>
          <a:p>
            <a:pPr algn="just"/>
            <a:r>
              <a:rPr lang="en-US" b="1" dirty="0" smtClean="0">
                <a:latin typeface="Times New Roman" pitchFamily="18" charset="0"/>
                <a:cs typeface="Times New Roman" pitchFamily="18" charset="0"/>
              </a:rPr>
              <a:t>Early </a:t>
            </a:r>
            <a:r>
              <a:rPr lang="en-US" b="1" dirty="0">
                <a:latin typeface="Times New Roman" pitchFamily="18" charset="0"/>
                <a:cs typeface="Times New Roman" pitchFamily="18" charset="0"/>
              </a:rPr>
              <a:t>detection:</a:t>
            </a:r>
            <a:r>
              <a:rPr lang="en-US" dirty="0">
                <a:latin typeface="Times New Roman" pitchFamily="18" charset="0"/>
                <a:cs typeface="Times New Roman" pitchFamily="18" charset="0"/>
              </a:rPr>
              <a:t> Helps identify Chronic Kidney Disease early</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Fast </a:t>
            </a:r>
            <a:r>
              <a:rPr lang="en-US" b="1" dirty="0">
                <a:latin typeface="Times New Roman" pitchFamily="18" charset="0"/>
                <a:cs typeface="Times New Roman" pitchFamily="18" charset="0"/>
              </a:rPr>
              <a:t>results:</a:t>
            </a:r>
            <a:r>
              <a:rPr lang="en-US" dirty="0">
                <a:latin typeface="Times New Roman" pitchFamily="18" charset="0"/>
                <a:cs typeface="Times New Roman" pitchFamily="18" charset="0"/>
              </a:rPr>
              <a:t> The system gives prediction results </a:t>
            </a:r>
            <a:r>
              <a:rPr lang="en-US" dirty="0" smtClean="0">
                <a:latin typeface="Times New Roman" pitchFamily="18" charset="0"/>
                <a:cs typeface="Times New Roman" pitchFamily="18" charset="0"/>
              </a:rPr>
              <a:t>quickly.</a:t>
            </a:r>
          </a:p>
          <a:p>
            <a:pPr algn="just"/>
            <a:r>
              <a:rPr lang="en-US" b="1" dirty="0" smtClean="0">
                <a:latin typeface="Times New Roman" pitchFamily="18" charset="0"/>
                <a:cs typeface="Times New Roman" pitchFamily="18" charset="0"/>
              </a:rPr>
              <a:t>Less </a:t>
            </a:r>
            <a:r>
              <a:rPr lang="en-US" b="1" dirty="0">
                <a:latin typeface="Times New Roman" pitchFamily="18" charset="0"/>
                <a:cs typeface="Times New Roman" pitchFamily="18" charset="0"/>
              </a:rPr>
              <a:t>manual work:</a:t>
            </a:r>
            <a:r>
              <a:rPr lang="en-US" dirty="0">
                <a:latin typeface="Times New Roman" pitchFamily="18" charset="0"/>
                <a:cs typeface="Times New Roman" pitchFamily="18" charset="0"/>
              </a:rPr>
              <a:t> Reduces the need to manually analyze medical reports</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Better </a:t>
            </a:r>
            <a:r>
              <a:rPr lang="en-US" b="1" dirty="0">
                <a:latin typeface="Times New Roman" pitchFamily="18" charset="0"/>
                <a:cs typeface="Times New Roman" pitchFamily="18" charset="0"/>
              </a:rPr>
              <a:t>accuracy:</a:t>
            </a:r>
            <a:r>
              <a:rPr lang="en-US" dirty="0">
                <a:latin typeface="Times New Roman" pitchFamily="18" charset="0"/>
                <a:cs typeface="Times New Roman" pitchFamily="18" charset="0"/>
              </a:rPr>
              <a:t> Machine learning improves prediction accuracy</a:t>
            </a:r>
            <a:r>
              <a:rPr lang="en-US" dirty="0" smtClean="0">
                <a:latin typeface="Times New Roman" pitchFamily="18" charset="0"/>
                <a:cs typeface="Times New Roman" pitchFamily="18" charset="0"/>
              </a:rPr>
              <a:t>.</a:t>
            </a:r>
          </a:p>
          <a:p>
            <a:pPr algn="just"/>
            <a:r>
              <a:rPr lang="en-US" b="1" dirty="0" smtClean="0">
                <a:latin typeface="Times New Roman" pitchFamily="18" charset="0"/>
                <a:cs typeface="Times New Roman" pitchFamily="18" charset="0"/>
              </a:rPr>
              <a:t>Easy </a:t>
            </a:r>
            <a:r>
              <a:rPr lang="en-US" b="1" dirty="0">
                <a:latin typeface="Times New Roman" pitchFamily="18" charset="0"/>
                <a:cs typeface="Times New Roman" pitchFamily="18" charset="0"/>
              </a:rPr>
              <a:t>data handling:</a:t>
            </a:r>
            <a:r>
              <a:rPr lang="en-US" dirty="0">
                <a:latin typeface="Times New Roman" pitchFamily="18" charset="0"/>
                <a:cs typeface="Times New Roman" pitchFamily="18" charset="0"/>
              </a:rPr>
              <a:t> The backend system processes patient data efficiently</a:t>
            </a:r>
            <a:r>
              <a:rPr lang="en-US" dirty="0" smtClean="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23</a:t>
            </a:fld>
            <a:endParaRPr lang="en-US" altLang="en-US"/>
          </a:p>
        </p:txBody>
      </p:sp>
    </p:spTree>
    <p:extLst>
      <p:ext uri="{BB962C8B-B14F-4D97-AF65-F5344CB8AC3E}">
        <p14:creationId xmlns:p14="http://schemas.microsoft.com/office/powerpoint/2010/main" val="22466521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Design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24</a:t>
            </a:fld>
            <a:endParaRPr lang="en-US" alt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056784" y="1618591"/>
            <a:ext cx="5224576" cy="3483051"/>
          </a:xfrm>
        </p:spPr>
      </p:pic>
    </p:spTree>
    <p:extLst>
      <p:ext uri="{BB962C8B-B14F-4D97-AF65-F5344CB8AC3E}">
        <p14:creationId xmlns:p14="http://schemas.microsoft.com/office/powerpoint/2010/main" val="30794258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838200" y="1970620"/>
            <a:ext cx="4022265" cy="2309422"/>
          </a:xfrm>
          <a:prstGeom prst="rect">
            <a:avLst/>
          </a:prstGeom>
        </p:spPr>
      </p:pic>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25</a:t>
            </a:fld>
            <a:endParaRPr lang="en-US" altLang="en-US"/>
          </a:p>
        </p:txBody>
      </p:sp>
      <p:pic>
        <p:nvPicPr>
          <p:cNvPr id="6" name="Picture 5"/>
          <p:cNvPicPr>
            <a:picLocks noChangeAspect="1"/>
          </p:cNvPicPr>
          <p:nvPr/>
        </p:nvPicPr>
        <p:blipFill>
          <a:blip r:embed="rId3"/>
          <a:stretch>
            <a:fillRect/>
          </a:stretch>
        </p:blipFill>
        <p:spPr>
          <a:xfrm>
            <a:off x="5731462" y="1970620"/>
            <a:ext cx="4321759" cy="2438728"/>
          </a:xfrm>
          <a:prstGeom prst="rect">
            <a:avLst/>
          </a:prstGeom>
        </p:spPr>
      </p:pic>
    </p:spTree>
    <p:extLst>
      <p:ext uri="{BB962C8B-B14F-4D97-AF65-F5344CB8AC3E}">
        <p14:creationId xmlns:p14="http://schemas.microsoft.com/office/powerpoint/2010/main" val="28654393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Implementation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26</a:t>
            </a:fld>
            <a:endParaRPr lang="en-US" altLang="en-US"/>
          </a:p>
        </p:txBody>
      </p:sp>
      <p:pic>
        <p:nvPicPr>
          <p:cNvPr id="7" name="Content Placeholder 6"/>
          <p:cNvPicPr>
            <a:picLocks noGrp="1"/>
          </p:cNvPicPr>
          <p:nvPr>
            <p:ph idx="1"/>
          </p:nvPr>
        </p:nvPicPr>
        <p:blipFill>
          <a:blip r:embed="rId2"/>
          <a:stretch>
            <a:fillRect/>
          </a:stretch>
        </p:blipFill>
        <p:spPr>
          <a:xfrm>
            <a:off x="1911549" y="2067165"/>
            <a:ext cx="7853552" cy="2375439"/>
          </a:xfrm>
          <a:prstGeom prst="rect">
            <a:avLst/>
          </a:prstGeom>
        </p:spPr>
      </p:pic>
    </p:spTree>
    <p:extLst>
      <p:ext uri="{BB962C8B-B14F-4D97-AF65-F5344CB8AC3E}">
        <p14:creationId xmlns:p14="http://schemas.microsoft.com/office/powerpoint/2010/main" val="2823078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System Testing</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lstStyle/>
          <a:p>
            <a:pPr marL="0" indent="0">
              <a:buNone/>
            </a:pPr>
            <a:r>
              <a:rPr lang="en-US" dirty="0" smtClean="0"/>
              <a:t>  To </a:t>
            </a:r>
            <a:r>
              <a:rPr lang="en-US" dirty="0"/>
              <a:t>verify that the CKD prediction system works correctly and meets </a:t>
            </a:r>
            <a:r>
              <a:rPr lang="en-US" dirty="0" smtClean="0"/>
              <a:t>  the </a:t>
            </a:r>
            <a:r>
              <a:rPr lang="en-US" dirty="0"/>
              <a:t>required performance. </a:t>
            </a:r>
            <a:endParaRPr lang="en-US" dirty="0" smtClean="0"/>
          </a:p>
          <a:p>
            <a:r>
              <a:rPr lang="en-US" dirty="0" smtClean="0"/>
              <a:t>Valid </a:t>
            </a:r>
            <a:r>
              <a:rPr lang="en-US" dirty="0"/>
              <a:t>patient data input → Correct prediction </a:t>
            </a:r>
            <a:r>
              <a:rPr lang="en-US" dirty="0" smtClean="0"/>
              <a:t>output</a:t>
            </a:r>
          </a:p>
          <a:p>
            <a:r>
              <a:rPr lang="en-US" dirty="0"/>
              <a:t>Invalid/missing values → Proper error </a:t>
            </a:r>
            <a:r>
              <a:rPr lang="en-US" dirty="0" smtClean="0"/>
              <a:t>handling</a:t>
            </a:r>
          </a:p>
          <a:p>
            <a:r>
              <a:rPr lang="en-US" dirty="0"/>
              <a:t>Boundary values (e.g., extreme medical values) → Stable predictions</a:t>
            </a:r>
            <a:endParaRPr lang="en-IN" dirty="0">
              <a:latin typeface="Times New Roman" panose="02020603050405020304" pitchFamily="18" charset="0"/>
              <a:cs typeface="Times New Roman" panose="02020603050405020304" pitchFamily="18" charset="0"/>
            </a:endParaRPr>
          </a:p>
          <a:p>
            <a:endParaRPr lang="en-US" dirty="0" smtClean="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27</a:t>
            </a:fld>
            <a:endParaRPr lang="en-US" altLang="en-US"/>
          </a:p>
        </p:txBody>
      </p:sp>
    </p:spTree>
    <p:extLst>
      <p:ext uri="{BB962C8B-B14F-4D97-AF65-F5344CB8AC3E}">
        <p14:creationId xmlns:p14="http://schemas.microsoft.com/office/powerpoint/2010/main" val="2179847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smtClean="0">
                <a:solidFill>
                  <a:schemeClr val="accent1">
                    <a:lumMod val="75000"/>
                  </a:schemeClr>
                </a:solidFill>
                <a:latin typeface="Times New Roman" panose="02020603050405020304" pitchFamily="18" charset="0"/>
                <a:cs typeface="Times New Roman" panose="02020603050405020304" pitchFamily="18" charset="0"/>
              </a:rPr>
              <a:t>Conclusion</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a:bodyPr>
          <a:lstStyle/>
          <a:p>
            <a:r>
              <a:rPr lang="en-US" sz="2400" dirty="0"/>
              <a:t>In conclusion, the CKD prediction system demonstrates that Machine Learning can effectively support the early detection of Chronic Kidney Disease using patient clinical data. The model achieves strong performance with high accuracy and reliable results, meeting the objectives of the project.</a:t>
            </a:r>
          </a:p>
          <a:p>
            <a:r>
              <a:rPr lang="en-US" sz="2400" dirty="0"/>
              <a:t>With further improvements, such as using larger datasets and enhancing the implementation, this system has the potential to become a reliable tool for clinical decision-making. It can assist healthcare professionals in identifying CKD at an early stage, ultimately helping to improve patient outcomes and support preventive healthcare.</a:t>
            </a:r>
          </a:p>
          <a:p>
            <a:endParaRPr 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28</a:t>
            </a:fld>
            <a:endParaRPr lang="en-US" altLang="en-US"/>
          </a:p>
        </p:txBody>
      </p:sp>
    </p:spTree>
    <p:extLst>
      <p:ext uri="{BB962C8B-B14F-4D97-AF65-F5344CB8AC3E}">
        <p14:creationId xmlns:p14="http://schemas.microsoft.com/office/powerpoint/2010/main" val="26744366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smtClean="0">
                <a:solidFill>
                  <a:schemeClr val="accent1">
                    <a:lumMod val="75000"/>
                  </a:schemeClr>
                </a:solidFill>
                <a:latin typeface="Times New Roman" panose="02020603050405020304" pitchFamily="18" charset="0"/>
                <a:cs typeface="Times New Roman" panose="02020603050405020304" pitchFamily="18" charset="0"/>
              </a:rPr>
              <a:t>References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fontScale="92500" lnSpcReduction="10000"/>
          </a:bodyPr>
          <a:lstStyle/>
          <a:p>
            <a:pPr marL="0" indent="0">
              <a:buNone/>
            </a:pPr>
            <a:r>
              <a:rPr lang="en-US" sz="2400" dirty="0" smtClean="0"/>
              <a:t>1. Singh</a:t>
            </a:r>
            <a:r>
              <a:rPr lang="en-US" sz="2400" dirty="0"/>
              <a:t>, A., Sharma, P., &amp; Kumar, R. (2020).</a:t>
            </a:r>
            <a:br>
              <a:rPr lang="en-US" sz="2400" dirty="0"/>
            </a:br>
            <a:r>
              <a:rPr lang="en-US" sz="2400" i="1" dirty="0" smtClean="0"/>
              <a:t>Chronic </a:t>
            </a:r>
            <a:r>
              <a:rPr lang="en-US" sz="2400" i="1" dirty="0"/>
              <a:t>Kidney Disease Prediction Using Random Forest </a:t>
            </a:r>
            <a:r>
              <a:rPr lang="en-US" sz="2400" i="1" dirty="0" smtClean="0"/>
              <a:t>Classifier</a:t>
            </a:r>
            <a:r>
              <a:rPr lang="en-US" sz="2400" dirty="0"/>
              <a:t> </a:t>
            </a:r>
            <a:r>
              <a:rPr lang="en-US" sz="2400" dirty="0">
                <a:hlinkClick r:id="rId2"/>
              </a:rPr>
              <a:t>https://</a:t>
            </a:r>
            <a:r>
              <a:rPr lang="en-US" sz="2400" dirty="0" smtClean="0">
                <a:hlinkClick r:id="rId2"/>
              </a:rPr>
              <a:t>doi.org/10.1016/j.procs.2020.03.228</a:t>
            </a:r>
            <a:endParaRPr lang="en-US" sz="2400" dirty="0" smtClean="0"/>
          </a:p>
          <a:p>
            <a:pPr marL="0" indent="0">
              <a:buNone/>
            </a:pPr>
            <a:r>
              <a:rPr lang="en-US" sz="2400" dirty="0" smtClean="0"/>
              <a:t>2. Kang</a:t>
            </a:r>
            <a:r>
              <a:rPr lang="en-US" sz="2400" dirty="0"/>
              <a:t>, M., Kim, J. and Park, E., 2021. </a:t>
            </a:r>
            <a:endParaRPr lang="en-US" sz="2400" dirty="0" smtClean="0"/>
          </a:p>
          <a:p>
            <a:pPr marL="0" indent="0">
              <a:buNone/>
            </a:pPr>
            <a:r>
              <a:rPr lang="en-US" sz="2400" dirty="0"/>
              <a:t> </a:t>
            </a:r>
            <a:r>
              <a:rPr lang="en-US" sz="2400" dirty="0" smtClean="0"/>
              <a:t>     Machine </a:t>
            </a:r>
            <a:r>
              <a:rPr lang="en-US" sz="2400" dirty="0"/>
              <a:t>Learning Approaches to Predict Chronic Kidney Disease. </a:t>
            </a:r>
            <a:r>
              <a:rPr lang="en-US" sz="2400" dirty="0" smtClean="0"/>
              <a:t>             </a:t>
            </a:r>
          </a:p>
          <a:p>
            <a:pPr marL="0" indent="0">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     </a:t>
            </a:r>
            <a:r>
              <a:rPr lang="en-US" sz="2400" u="sng" dirty="0" smtClean="0">
                <a:hlinkClick r:id="rId3"/>
              </a:rPr>
              <a:t>https</a:t>
            </a:r>
            <a:r>
              <a:rPr lang="en-US" sz="2400" u="sng" dirty="0">
                <a:hlinkClick r:id="rId3"/>
              </a:rPr>
              <a:t>://</a:t>
            </a:r>
            <a:r>
              <a:rPr lang="en-US" sz="2400" u="sng" dirty="0" smtClean="0">
                <a:hlinkClick r:id="rId3"/>
              </a:rPr>
              <a:t>doi.org/10.1038/s41598-021-01694-2</a:t>
            </a:r>
            <a:endParaRPr lang="en-US" sz="2400" u="sng" dirty="0" smtClean="0"/>
          </a:p>
          <a:p>
            <a:pPr marL="0" indent="0">
              <a:buNone/>
            </a:pPr>
            <a:r>
              <a:rPr lang="en-US" sz="2400" u="sng" dirty="0" smtClean="0">
                <a:latin typeface="Times New Roman" panose="02020603050405020304" pitchFamily="18" charset="0"/>
                <a:cs typeface="Times New Roman" panose="02020603050405020304" pitchFamily="18" charset="0"/>
              </a:rPr>
              <a:t>3.  </a:t>
            </a:r>
            <a:r>
              <a:rPr lang="en-US" sz="2400" dirty="0" err="1"/>
              <a:t>Adeboye</a:t>
            </a:r>
            <a:r>
              <a:rPr lang="en-US" sz="2400" dirty="0"/>
              <a:t>, A., </a:t>
            </a:r>
            <a:r>
              <a:rPr lang="en-US" sz="2400" dirty="0" err="1"/>
              <a:t>Olurin</a:t>
            </a:r>
            <a:r>
              <a:rPr lang="en-US" sz="2400" dirty="0"/>
              <a:t>, T. and </a:t>
            </a:r>
            <a:r>
              <a:rPr lang="en-US" sz="2400" dirty="0" err="1"/>
              <a:t>Olatunji</a:t>
            </a:r>
            <a:r>
              <a:rPr lang="en-US" sz="2400" dirty="0"/>
              <a:t>, A., 2022</a:t>
            </a:r>
            <a:r>
              <a:rPr lang="en-US" sz="2400" dirty="0" smtClean="0"/>
              <a:t>.</a:t>
            </a:r>
          </a:p>
          <a:p>
            <a:pPr marL="0" indent="0">
              <a:buNone/>
            </a:pPr>
            <a:r>
              <a:rPr lang="en-US" sz="2400" dirty="0"/>
              <a:t> </a:t>
            </a:r>
            <a:r>
              <a:rPr lang="en-US" sz="2400" dirty="0" smtClean="0"/>
              <a:t>   </a:t>
            </a:r>
            <a:r>
              <a:rPr lang="en-US" sz="2400" i="1" dirty="0"/>
              <a:t>Performance Analysis of ML Algorithms for CKD Detection Using </a:t>
            </a:r>
            <a:r>
              <a:rPr lang="en-US" sz="2400" i="1" dirty="0" smtClean="0"/>
              <a:t>  Feature Selection </a:t>
            </a:r>
            <a:r>
              <a:rPr lang="en-US" sz="2400" u="sng" dirty="0">
                <a:hlinkClick r:id="rId4"/>
              </a:rPr>
              <a:t>https://</a:t>
            </a:r>
            <a:r>
              <a:rPr lang="en-US" sz="2400" u="sng" dirty="0" smtClean="0">
                <a:hlinkClick r:id="rId4"/>
              </a:rPr>
              <a:t>doi.org/10.1016/j.jksuci.2022.03.010</a:t>
            </a:r>
            <a:endParaRPr lang="en-US" sz="2400" u="sng" dirty="0" smtClean="0"/>
          </a:p>
          <a:p>
            <a:pPr marL="0" lvl="0" indent="0">
              <a:buNone/>
            </a:pPr>
            <a:r>
              <a:rPr lang="en-US" sz="2400" i="1" u="sng" dirty="0" smtClean="0"/>
              <a:t>4. </a:t>
            </a:r>
            <a:r>
              <a:rPr lang="en-US" sz="2400" dirty="0"/>
              <a:t>Government of India, 2023. </a:t>
            </a:r>
            <a:r>
              <a:rPr lang="en-US" sz="2400" i="1" dirty="0"/>
              <a:t>Digital Personal Data Protection Act (DPDPA)</a:t>
            </a:r>
            <a:r>
              <a:rPr lang="en-US" sz="2400" dirty="0"/>
              <a:t>. Ministry of Electronics &amp; Information Technology.</a:t>
            </a:r>
          </a:p>
          <a:p>
            <a:pPr marL="0" indent="0">
              <a:buNone/>
            </a:pPr>
            <a:endParaRPr lang="en-US" sz="2400" i="1" dirty="0" smtClean="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29</a:t>
            </a:fld>
            <a:endParaRPr lang="en-US" altLang="en-US"/>
          </a:p>
        </p:txBody>
      </p:sp>
    </p:spTree>
    <p:extLst>
      <p:ext uri="{BB962C8B-B14F-4D97-AF65-F5344CB8AC3E}">
        <p14:creationId xmlns:p14="http://schemas.microsoft.com/office/powerpoint/2010/main" val="3579346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rgbClr val="0070C0"/>
                </a:solidFill>
                <a:latin typeface="Times New Roman" panose="02020603050405020304" pitchFamily="18" charset="0"/>
                <a:cs typeface="Times New Roman" panose="02020603050405020304" pitchFamily="18" charset="0"/>
              </a:rPr>
              <a:t>Github Link</a:t>
            </a:r>
            <a:endParaRPr lang="en-US" sz="3200" b="1" dirty="0">
              <a:solidFill>
                <a:srgbClr val="0070C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30</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IN" b="1" dirty="0" smtClean="0">
                <a:latin typeface="Times New Roman" pitchFamily="18" charset="0"/>
                <a:cs typeface="Times New Roman" pitchFamily="18" charset="0"/>
              </a:rPr>
              <a:t>https</a:t>
            </a:r>
            <a:r>
              <a:rPr lang="en-IN" b="1" dirty="0">
                <a:latin typeface="Times New Roman" pitchFamily="18" charset="0"/>
                <a:cs typeface="Times New Roman" pitchFamily="18" charset="0"/>
              </a:rPr>
              <a:t>://github.com/srohitha985-ui</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95621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smtClean="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smtClean="0">
                <a:solidFill>
                  <a:srgbClr val="FFFF00"/>
                </a:solidFill>
                <a:latin typeface="Times New Roman" panose="02020603050405020304" pitchFamily="18" charset="0"/>
                <a:cs typeface="Times New Roman" panose="02020603050405020304" pitchFamily="18" charset="0"/>
              </a:rPr>
              <a:t> </a:t>
            </a:r>
            <a:r>
              <a:rPr lang="en-US" sz="6600" dirty="0" smtClean="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31</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smtClean="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32</a:t>
            </a:fld>
            <a:endParaRPr lang="en-US" altLang="en-US"/>
          </a:p>
        </p:txBody>
      </p:sp>
    </p:spTree>
    <p:extLst>
      <p:ext uri="{BB962C8B-B14F-4D97-AF65-F5344CB8AC3E}">
        <p14:creationId xmlns:p14="http://schemas.microsoft.com/office/powerpoint/2010/main" val="696605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7649</TotalTime>
  <Words>1957</Words>
  <Application>Microsoft Office PowerPoint</Application>
  <PresentationFormat>Widescreen</PresentationFormat>
  <Paragraphs>245</Paragraphs>
  <Slides>32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Calibri Light</vt:lpstr>
      <vt:lpstr>Cambria</vt:lpstr>
      <vt:lpstr>Tahoma</vt:lpstr>
      <vt:lpstr>Times New Roman</vt:lpstr>
      <vt:lpstr>Verdana</vt:lpstr>
      <vt:lpstr>Wingdings</vt:lpstr>
      <vt:lpstr>Office Theme</vt:lpstr>
      <vt:lpstr>PowerPoint Presentation</vt:lpstr>
      <vt:lpstr>Content</vt:lpstr>
      <vt:lpstr>Working domain or the technology</vt:lpstr>
      <vt:lpstr>About Company or Organization</vt:lpstr>
      <vt:lpstr>About your team and reporting Manager</vt:lpstr>
      <vt:lpstr>Challenges Faced in Internship</vt:lpstr>
      <vt:lpstr>Objectives of the work</vt:lpstr>
      <vt:lpstr>Literature Review</vt:lpstr>
      <vt:lpstr>Proposed System / Work</vt:lpstr>
      <vt:lpstr>Proposed Methods</vt:lpstr>
      <vt:lpstr>Problem Statement</vt:lpstr>
      <vt:lpstr>WEEK 1(Understand what CKD is??)</vt:lpstr>
      <vt:lpstr>WEEK 2(Decide exactly what the system will do)</vt:lpstr>
      <vt:lpstr>WEEK 3(Get real patient data and carefully study)</vt:lpstr>
      <vt:lpstr>WEEK 4(Convert raw messy data into clean numeric values )</vt:lpstr>
      <vt:lpstr>WEEK 5(To train a computer model that can learn the pattern of CKD)</vt:lpstr>
      <vt:lpstr>WEEK 6(Measure real performance and save the metrics for the dashboard)</vt:lpstr>
      <vt:lpstr>WEEK 7(To connect the trained model to the internet using an API)</vt:lpstr>
      <vt:lpstr>WEEK 8(Store every prediction permanently in a database and show it in a History page)</vt:lpstr>
      <vt:lpstr>WEEK 9(To build a user-friendly website where people can enter data and see results)</vt:lpstr>
      <vt:lpstr>WEEK 10(Connect all parts, test full flow, fix issues, and prepare submission)</vt:lpstr>
      <vt:lpstr>System Requirements</vt:lpstr>
      <vt:lpstr>Advantages of Proposed System/Work</vt:lpstr>
      <vt:lpstr>System Design</vt:lpstr>
      <vt:lpstr>System Implementation</vt:lpstr>
      <vt:lpstr>System Implementation</vt:lpstr>
      <vt:lpstr>System Testing</vt:lpstr>
      <vt:lpstr>Conclusion</vt:lpstr>
      <vt:lpstr>References</vt:lpstr>
      <vt:lpstr>Github Link</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lenovo</cp:lastModifiedBy>
  <cp:revision>759</cp:revision>
  <dcterms:created xsi:type="dcterms:W3CDTF">2022-10-14T07:18:17Z</dcterms:created>
  <dcterms:modified xsi:type="dcterms:W3CDTF">2026-04-25T08:32:47Z</dcterms:modified>
</cp:coreProperties>
</file>